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731520" y="914400"/>
            <a:ext cx="7680960" cy="0"/>
          </a:xfrm>
          <a:prstGeom prst="line">
            <a:avLst/>
          </a:prstGeom>
          <a:noFill/>
          <a:ln w="9525">
            <a:solidFill>
              <a:srgbClr val="C9A84C"/>
            </a:solidFill>
            <a:prstDash val="solid"/>
          </a:ln>
        </p:spPr>
      </p:sp>
      <p:sp>
        <p:nvSpPr>
          <p:cNvPr id="3" name="Text 1"/>
          <p:cNvSpPr/>
          <p:nvPr/>
        </p:nvSpPr>
        <p:spPr>
          <a:xfrm>
            <a:off x="731520" y="1051560"/>
            <a:ext cx="7680960" cy="457200"/>
          </a:xfrm>
          <a:prstGeom prst="rect">
            <a:avLst/>
          </a:prstGeom>
          <a:noFill/>
          <a:ln/>
        </p:spPr>
        <p:txBody>
          <a:bodyPr wrap="square" rtlCol="0" anchor="ctr"/>
          <a:lstStyle/>
          <a:p>
            <a:pPr algn="l" indent="0" marL="0">
              <a:buNone/>
            </a:pPr>
            <a:r>
              <a:rPr lang="en-US" sz="1200" b="1" spc="600" kern="0" dirty="0">
                <a:solidFill>
                  <a:srgbClr val="C9A84C"/>
                </a:solidFill>
                <a:latin typeface="Georgia" pitchFamily="34" charset="0"/>
                <a:ea typeface="Georgia" pitchFamily="34" charset="-122"/>
                <a:cs typeface="Georgia" pitchFamily="34" charset="-120"/>
              </a:rPr>
              <a:t>STRATEGIC INTELLIGENCE BRIEFING</a:t>
            </a:r>
            <a:endParaRPr lang="en-US" sz="1200" dirty="0"/>
          </a:p>
        </p:txBody>
      </p:sp>
      <p:sp>
        <p:nvSpPr>
          <p:cNvPr id="4" name="Text 2"/>
          <p:cNvSpPr/>
          <p:nvPr/>
        </p:nvSpPr>
        <p:spPr>
          <a:xfrm>
            <a:off x="731520" y="1554480"/>
            <a:ext cx="7680960" cy="640080"/>
          </a:xfrm>
          <a:prstGeom prst="rect">
            <a:avLst/>
          </a:prstGeom>
          <a:noFill/>
          <a:ln/>
        </p:spPr>
        <p:txBody>
          <a:bodyPr wrap="square"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Intelligence, Corridors, and Governance</a:t>
            </a:r>
            <a:endParaRPr lang="en-US" sz="2800" dirty="0"/>
          </a:p>
        </p:txBody>
      </p:sp>
      <p:sp>
        <p:nvSpPr>
          <p:cNvPr id="5" name="Text 3"/>
          <p:cNvSpPr/>
          <p:nvPr/>
        </p:nvSpPr>
        <p:spPr>
          <a:xfrm>
            <a:off x="731520" y="2240280"/>
            <a:ext cx="7680960" cy="731520"/>
          </a:xfrm>
          <a:prstGeom prst="rect">
            <a:avLst/>
          </a:prstGeom>
          <a:noFill/>
          <a:ln/>
        </p:spPr>
        <p:txBody>
          <a:bodyPr wrap="square" rtlCol="0" anchor="ctr"/>
          <a:lstStyle/>
          <a:p>
            <a:pPr algn="l" indent="0" marL="0">
              <a:buNone/>
            </a:pPr>
            <a:r>
              <a:rPr lang="en-US" sz="1500" i="1" dirty="0">
                <a:solidFill>
                  <a:srgbClr val="B0B0B0"/>
                </a:solidFill>
                <a:latin typeface="Georgia" pitchFamily="34" charset="0"/>
                <a:ea typeface="Georgia" pitchFamily="34" charset="-122"/>
                <a:cs typeface="Georgia" pitchFamily="34" charset="-120"/>
              </a:rPr>
              <a:t>Restructuring the EU–GCC–South Asia Trade Architecture</a:t>
            </a:r>
            <a:endParaRPr lang="en-US" sz="1500" dirty="0"/>
          </a:p>
          <a:p>
            <a:pPr algn="l" indent="0" marL="0">
              <a:buNone/>
            </a:pPr>
            <a:r>
              <a:rPr lang="en-US" sz="1500" i="1" dirty="0">
                <a:solidFill>
                  <a:srgbClr val="B0B0B0"/>
                </a:solidFill>
                <a:latin typeface="Georgia" pitchFamily="34" charset="0"/>
                <a:ea typeface="Georgia" pitchFamily="34" charset="-122"/>
                <a:cs typeface="Georgia" pitchFamily="34" charset="-120"/>
              </a:rPr>
              <a:t>in the Age of AI-Enabled Economic Statecraft</a:t>
            </a:r>
            <a:endParaRPr lang="en-US" sz="1500" dirty="0"/>
          </a:p>
        </p:txBody>
      </p:sp>
      <p:sp>
        <p:nvSpPr>
          <p:cNvPr id="6" name="Shape 4"/>
          <p:cNvSpPr/>
          <p:nvPr/>
        </p:nvSpPr>
        <p:spPr>
          <a:xfrm>
            <a:off x="731520" y="3154680"/>
            <a:ext cx="3200400" cy="0"/>
          </a:xfrm>
          <a:prstGeom prst="line">
            <a:avLst/>
          </a:prstGeom>
          <a:noFill/>
          <a:ln w="9525">
            <a:solidFill>
              <a:srgbClr val="C9A84C"/>
            </a:solidFill>
            <a:prstDash val="solid"/>
          </a:ln>
        </p:spPr>
      </p:sp>
      <p:sp>
        <p:nvSpPr>
          <p:cNvPr id="7" name="Text 5"/>
          <p:cNvSpPr/>
          <p:nvPr/>
        </p:nvSpPr>
        <p:spPr>
          <a:xfrm>
            <a:off x="731520" y="3337560"/>
            <a:ext cx="7680960" cy="365760"/>
          </a:xfrm>
          <a:prstGeom prst="rect">
            <a:avLst/>
          </a:prstGeom>
          <a:noFill/>
          <a:ln/>
        </p:spPr>
        <p:txBody>
          <a:bodyPr wrap="square" rtlCol="0" anchor="ctr"/>
          <a:lstStyle/>
          <a:p>
            <a:pPr algn="l" indent="0" marL="0">
              <a:buNone/>
            </a:pPr>
            <a:r>
              <a:rPr lang="en-US" sz="1300" b="1" dirty="0">
                <a:solidFill>
                  <a:srgbClr val="D4B96A"/>
                </a:solidFill>
                <a:latin typeface="Georgia" pitchFamily="34" charset="0"/>
                <a:ea typeface="Georgia" pitchFamily="34" charset="-122"/>
                <a:cs typeface="Georgia" pitchFamily="34" charset="-120"/>
              </a:rPr>
              <a:t>Mian Muhammad Usman Zulfiqar</a:t>
            </a:r>
            <a:endParaRPr lang="en-US" sz="1300" dirty="0"/>
          </a:p>
        </p:txBody>
      </p:sp>
      <p:sp>
        <p:nvSpPr>
          <p:cNvPr id="8" name="Text 6"/>
          <p:cNvSpPr/>
          <p:nvPr/>
        </p:nvSpPr>
        <p:spPr>
          <a:xfrm>
            <a:off x="731520" y="3703320"/>
            <a:ext cx="7680960" cy="457200"/>
          </a:xfrm>
          <a:prstGeom prst="rect">
            <a:avLst/>
          </a:prstGeom>
          <a:noFill/>
          <a:ln/>
        </p:spPr>
        <p:txBody>
          <a:bodyPr wrap="square" rtlCol="0" anchor="ctr"/>
          <a:lstStyle/>
          <a:p>
            <a:pPr algn="l" indent="0" marL="0">
              <a:buNone/>
            </a:pPr>
            <a:r>
              <a:rPr lang="en-US" sz="1000" dirty="0">
                <a:solidFill>
                  <a:srgbClr val="B0B0B0"/>
                </a:solidFill>
                <a:latin typeface="Georgia" pitchFamily="34" charset="0"/>
                <a:ea typeface="Georgia" pitchFamily="34" charset="-122"/>
                <a:cs typeface="Georgia" pitchFamily="34" charset="-120"/>
              </a:rPr>
              <a:t>Senior Fellow (Independent) &amp; Principal Strategist</a:t>
            </a:r>
            <a:endParaRPr lang="en-US" sz="1000" dirty="0"/>
          </a:p>
          <a:p>
            <a:pPr algn="l" indent="0" marL="0">
              <a:buNone/>
            </a:pPr>
            <a:r>
              <a:rPr lang="en-US" sz="1000" dirty="0">
                <a:solidFill>
                  <a:srgbClr val="B0B0B0"/>
                </a:solidFill>
                <a:latin typeface="Georgia" pitchFamily="34" charset="0"/>
                <a:ea typeface="Georgia" pitchFamily="34" charset="-122"/>
                <a:cs typeface="Georgia" pitchFamily="34" charset="-120"/>
              </a:rPr>
              <a:t>Global Trade Architecture &amp; Systemic Resilience</a:t>
            </a:r>
            <a:endParaRPr lang="en-US" sz="1000" dirty="0"/>
          </a:p>
        </p:txBody>
      </p:sp>
      <p:sp>
        <p:nvSpPr>
          <p:cNvPr id="9" name="Text 7"/>
          <p:cNvSpPr/>
          <p:nvPr/>
        </p:nvSpPr>
        <p:spPr>
          <a:xfrm>
            <a:off x="731520" y="4251960"/>
            <a:ext cx="7680960" cy="274320"/>
          </a:xfrm>
          <a:prstGeom prst="rect">
            <a:avLst/>
          </a:prstGeom>
          <a:noFill/>
          <a:ln/>
        </p:spPr>
        <p:txBody>
          <a:bodyPr wrap="square" rtlCol="0" anchor="ctr"/>
          <a:lstStyle/>
          <a:p>
            <a:pPr algn="l" indent="0" marL="0">
              <a:buNone/>
            </a:pPr>
            <a:r>
              <a:rPr lang="en-US" sz="900" dirty="0">
                <a:solidFill>
                  <a:srgbClr val="8B7635"/>
                </a:solidFill>
                <a:latin typeface="Georgia" pitchFamily="34" charset="0"/>
                <a:ea typeface="Georgia" pitchFamily="34" charset="-122"/>
                <a:cs typeface="Georgia" pitchFamily="34" charset="-120"/>
              </a:rPr>
              <a:t>April 2026  |  Restricted Circulation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EXECUTIVE SUMMARY</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143000"/>
            <a:ext cx="7680960" cy="1005840"/>
          </a:xfrm>
          <a:prstGeom prst="rect">
            <a:avLst/>
          </a:prstGeom>
          <a:noFill/>
          <a:ln/>
        </p:spPr>
        <p:txBody>
          <a:bodyPr wrap="square" rtlCol="0" anchor="ctr"/>
          <a:lstStyle/>
          <a:p>
            <a:pPr algn="l" indent="0" marL="0">
              <a:lnSpc>
                <a:spcPct val="130000"/>
              </a:lnSpc>
              <a:buNone/>
            </a:pPr>
            <a:r>
              <a:rPr lang="en-US" sz="1150" dirty="0">
                <a:solidFill>
                  <a:srgbClr val="B0B0B0"/>
                </a:solidFill>
                <a:latin typeface="Georgia" pitchFamily="34" charset="0"/>
                <a:ea typeface="Georgia" pitchFamily="34" charset="-122"/>
                <a:cs typeface="Georgia" pitchFamily="34" charset="-120"/>
              </a:rPr>
              <a:t>The EU–GCC–South Asia trade corridor constitutes one of the most strategically underarchitected axes of the contemporary global order. Spanning European capital markets, Gulf logistics sovereignty, and South Asian industrial depth, this corridor intermediates hundreds of billions of dollars in annual commerce — yet remains institutionally ungoverned at the systems level.</a:t>
            </a:r>
            <a:endParaRPr lang="en-US" sz="1150" dirty="0"/>
          </a:p>
        </p:txBody>
      </p:sp>
      <p:sp>
        <p:nvSpPr>
          <p:cNvPr id="6" name="Shape 3"/>
          <p:cNvSpPr/>
          <p:nvPr/>
        </p:nvSpPr>
        <p:spPr>
          <a:xfrm>
            <a:off x="731520" y="2331720"/>
            <a:ext cx="2468880" cy="2011680"/>
          </a:xfrm>
          <a:prstGeom prst="rect">
            <a:avLst/>
          </a:prstGeom>
          <a:solidFill>
            <a:srgbClr val="111111"/>
          </a:solidFill>
          <a:ln w="6350">
            <a:solidFill>
              <a:srgbClr val="8B7635"/>
            </a:solidFill>
            <a:prstDash val="solid"/>
          </a:ln>
        </p:spPr>
      </p:sp>
      <p:sp>
        <p:nvSpPr>
          <p:cNvPr id="7" name="Text 4"/>
          <p:cNvSpPr/>
          <p:nvPr/>
        </p:nvSpPr>
        <p:spPr>
          <a:xfrm>
            <a:off x="868680" y="2468880"/>
            <a:ext cx="2194560" cy="365760"/>
          </a:xfrm>
          <a:prstGeom prst="rect">
            <a:avLst/>
          </a:prstGeom>
          <a:noFill/>
          <a:ln/>
        </p:spPr>
        <p:txBody>
          <a:bodyPr wrap="square" rtlCol="0" anchor="ctr"/>
          <a:lstStyle/>
          <a:p>
            <a:pPr indent="0" marL="0">
              <a:buNone/>
            </a:pPr>
            <a:r>
              <a:rPr lang="en-US" sz="1100" b="1" dirty="0">
                <a:solidFill>
                  <a:srgbClr val="C9A84C"/>
                </a:solidFill>
                <a:latin typeface="Georgia" pitchFamily="34" charset="0"/>
                <a:ea typeface="Georgia" pitchFamily="34" charset="-122"/>
                <a:cs typeface="Georgia" pitchFamily="34" charset="-120"/>
              </a:rPr>
              <a:t>Governance Deficit</a:t>
            </a:r>
            <a:endParaRPr lang="en-US" sz="1100" dirty="0"/>
          </a:p>
        </p:txBody>
      </p:sp>
      <p:sp>
        <p:nvSpPr>
          <p:cNvPr id="8" name="Text 5"/>
          <p:cNvSpPr/>
          <p:nvPr/>
        </p:nvSpPr>
        <p:spPr>
          <a:xfrm>
            <a:off x="868680" y="2880360"/>
            <a:ext cx="2194560" cy="1280160"/>
          </a:xfrm>
          <a:prstGeom prst="rect">
            <a:avLst/>
          </a:prstGeom>
          <a:noFill/>
          <a:ln/>
        </p:spPr>
        <p:txBody>
          <a:bodyPr wrap="square" rtlCol="0" anchor="ctr"/>
          <a:lstStyle/>
          <a:p>
            <a:pPr indent="0" marL="0">
              <a:lnSpc>
                <a:spcPct val="125000"/>
              </a:lnSpc>
              <a:buNone/>
            </a:pPr>
            <a:r>
              <a:rPr lang="en-US" sz="950" dirty="0">
                <a:solidFill>
                  <a:srgbClr val="B0B0B0"/>
                </a:solidFill>
                <a:latin typeface="Georgia" pitchFamily="34" charset="0"/>
                <a:ea typeface="Georgia" pitchFamily="34" charset="-122"/>
                <a:cs typeface="Georgia" pitchFamily="34" charset="-120"/>
              </a:rPr>
              <a:t>The corridor is growing in complexity faster than the institutional frameworks designed to manage it.</a:t>
            </a:r>
            <a:endParaRPr lang="en-US" sz="950" dirty="0"/>
          </a:p>
        </p:txBody>
      </p:sp>
      <p:sp>
        <p:nvSpPr>
          <p:cNvPr id="9" name="Shape 6"/>
          <p:cNvSpPr/>
          <p:nvPr/>
        </p:nvSpPr>
        <p:spPr>
          <a:xfrm>
            <a:off x="3429000" y="2331720"/>
            <a:ext cx="2468880" cy="2011680"/>
          </a:xfrm>
          <a:prstGeom prst="rect">
            <a:avLst/>
          </a:prstGeom>
          <a:solidFill>
            <a:srgbClr val="111111"/>
          </a:solidFill>
          <a:ln w="6350">
            <a:solidFill>
              <a:srgbClr val="8B7635"/>
            </a:solidFill>
            <a:prstDash val="solid"/>
          </a:ln>
        </p:spPr>
      </p:sp>
      <p:sp>
        <p:nvSpPr>
          <p:cNvPr id="10" name="Text 7"/>
          <p:cNvSpPr/>
          <p:nvPr/>
        </p:nvSpPr>
        <p:spPr>
          <a:xfrm>
            <a:off x="3566160" y="2468880"/>
            <a:ext cx="2194560" cy="365760"/>
          </a:xfrm>
          <a:prstGeom prst="rect">
            <a:avLst/>
          </a:prstGeom>
          <a:noFill/>
          <a:ln/>
        </p:spPr>
        <p:txBody>
          <a:bodyPr wrap="square" rtlCol="0" anchor="ctr"/>
          <a:lstStyle/>
          <a:p>
            <a:pPr indent="0" marL="0">
              <a:buNone/>
            </a:pPr>
            <a:r>
              <a:rPr lang="en-US" sz="1100" b="1" dirty="0">
                <a:solidFill>
                  <a:srgbClr val="C9A84C"/>
                </a:solidFill>
                <a:latin typeface="Georgia" pitchFamily="34" charset="0"/>
                <a:ea typeface="Georgia" pitchFamily="34" charset="-122"/>
                <a:cs typeface="Georgia" pitchFamily="34" charset="-120"/>
              </a:rPr>
              <a:t>Epistemic Gap</a:t>
            </a:r>
            <a:endParaRPr lang="en-US" sz="1100" dirty="0"/>
          </a:p>
        </p:txBody>
      </p:sp>
      <p:sp>
        <p:nvSpPr>
          <p:cNvPr id="11" name="Text 8"/>
          <p:cNvSpPr/>
          <p:nvPr/>
        </p:nvSpPr>
        <p:spPr>
          <a:xfrm>
            <a:off x="3566160" y="2880360"/>
            <a:ext cx="2194560" cy="1280160"/>
          </a:xfrm>
          <a:prstGeom prst="rect">
            <a:avLst/>
          </a:prstGeom>
          <a:noFill/>
          <a:ln/>
        </p:spPr>
        <p:txBody>
          <a:bodyPr wrap="square" rtlCol="0" anchor="ctr"/>
          <a:lstStyle/>
          <a:p>
            <a:pPr indent="0" marL="0">
              <a:lnSpc>
                <a:spcPct val="125000"/>
              </a:lnSpc>
              <a:buNone/>
            </a:pPr>
            <a:r>
              <a:rPr lang="en-US" sz="950" dirty="0">
                <a:solidFill>
                  <a:srgbClr val="B0B0B0"/>
                </a:solidFill>
                <a:latin typeface="Georgia" pitchFamily="34" charset="0"/>
                <a:ea typeface="Georgia" pitchFamily="34" charset="-122"/>
                <a:cs typeface="Georgia" pitchFamily="34" charset="-120"/>
              </a:rPr>
              <a:t>AI offers the first credible tool for closing the corridor's structural information asymmetry — but only under multilateral governance.</a:t>
            </a:r>
            <a:endParaRPr lang="en-US" sz="950" dirty="0"/>
          </a:p>
        </p:txBody>
      </p:sp>
      <p:sp>
        <p:nvSpPr>
          <p:cNvPr id="12" name="Shape 9"/>
          <p:cNvSpPr/>
          <p:nvPr/>
        </p:nvSpPr>
        <p:spPr>
          <a:xfrm>
            <a:off x="6126480" y="2331720"/>
            <a:ext cx="2468880" cy="2011680"/>
          </a:xfrm>
          <a:prstGeom prst="rect">
            <a:avLst/>
          </a:prstGeom>
          <a:solidFill>
            <a:srgbClr val="111111"/>
          </a:solidFill>
          <a:ln w="6350">
            <a:solidFill>
              <a:srgbClr val="8B7635"/>
            </a:solidFill>
            <a:prstDash val="solid"/>
          </a:ln>
        </p:spPr>
      </p:sp>
      <p:sp>
        <p:nvSpPr>
          <p:cNvPr id="13" name="Text 10"/>
          <p:cNvSpPr/>
          <p:nvPr/>
        </p:nvSpPr>
        <p:spPr>
          <a:xfrm>
            <a:off x="6263640" y="2468880"/>
            <a:ext cx="2194560" cy="365760"/>
          </a:xfrm>
          <a:prstGeom prst="rect">
            <a:avLst/>
          </a:prstGeom>
          <a:noFill/>
          <a:ln/>
        </p:spPr>
        <p:txBody>
          <a:bodyPr wrap="square" rtlCol="0" anchor="ctr"/>
          <a:lstStyle/>
          <a:p>
            <a:pPr indent="0" marL="0">
              <a:buNone/>
            </a:pPr>
            <a:r>
              <a:rPr lang="en-US" sz="1100" b="1" dirty="0">
                <a:solidFill>
                  <a:srgbClr val="C9A84C"/>
                </a:solidFill>
                <a:latin typeface="Georgia" pitchFamily="34" charset="0"/>
                <a:ea typeface="Georgia" pitchFamily="34" charset="-122"/>
                <a:cs typeface="Georgia" pitchFamily="34" charset="-120"/>
              </a:rPr>
              <a:t>Window Closing</a:t>
            </a:r>
            <a:endParaRPr lang="en-US" sz="1100" dirty="0"/>
          </a:p>
        </p:txBody>
      </p:sp>
      <p:sp>
        <p:nvSpPr>
          <p:cNvPr id="14" name="Text 11"/>
          <p:cNvSpPr/>
          <p:nvPr/>
        </p:nvSpPr>
        <p:spPr>
          <a:xfrm>
            <a:off x="6263640" y="2880360"/>
            <a:ext cx="2194560" cy="1280160"/>
          </a:xfrm>
          <a:prstGeom prst="rect">
            <a:avLst/>
          </a:prstGeom>
          <a:noFill/>
          <a:ln/>
        </p:spPr>
        <p:txBody>
          <a:bodyPr wrap="square" rtlCol="0" anchor="ctr"/>
          <a:lstStyle/>
          <a:p>
            <a:pPr indent="0" marL="0">
              <a:lnSpc>
                <a:spcPct val="125000"/>
              </a:lnSpc>
              <a:buNone/>
            </a:pPr>
            <a:r>
              <a:rPr lang="en-US" sz="950" dirty="0">
                <a:solidFill>
                  <a:srgbClr val="B0B0B0"/>
                </a:solidFill>
                <a:latin typeface="Georgia" pitchFamily="34" charset="0"/>
                <a:ea typeface="Georgia" pitchFamily="34" charset="-122"/>
                <a:cs typeface="Georgia" pitchFamily="34" charset="-120"/>
              </a:rPr>
              <a:t>Fragmentation into competing proprietary ecosystems will foreclose multilateral coordination permanently.</a:t>
            </a:r>
            <a:endParaRPr lang="en-US" sz="950" dirty="0"/>
          </a:p>
        </p:txBody>
      </p:sp>
      <p:sp>
        <p:nvSpPr>
          <p:cNvPr id="15" name="Text 12"/>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THREE STRUCTURAL CONVERGENCES</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143000"/>
            <a:ext cx="365760" cy="365760"/>
          </a:xfrm>
          <a:prstGeom prst="rect">
            <a:avLst/>
          </a:prstGeom>
          <a:noFill/>
          <a:ln/>
        </p:spPr>
        <p:txBody>
          <a:bodyPr wrap="square" rtlCol="0" anchor="ctr"/>
          <a:lstStyle/>
          <a:p>
            <a:pPr indent="0" marL="0">
              <a:buNone/>
            </a:pPr>
            <a:r>
              <a:rPr lang="en-US" sz="1800" b="1" dirty="0">
                <a:solidFill>
                  <a:srgbClr val="C9A84C"/>
                </a:solidFill>
                <a:latin typeface="Georgia" pitchFamily="34" charset="0"/>
                <a:ea typeface="Georgia" pitchFamily="34" charset="-122"/>
                <a:cs typeface="Georgia" pitchFamily="34" charset="-120"/>
              </a:rPr>
              <a:t>I</a:t>
            </a:r>
            <a:endParaRPr lang="en-US" sz="1800" dirty="0"/>
          </a:p>
        </p:txBody>
      </p:sp>
      <p:sp>
        <p:nvSpPr>
          <p:cNvPr id="6" name="Text 3"/>
          <p:cNvSpPr/>
          <p:nvPr/>
        </p:nvSpPr>
        <p:spPr>
          <a:xfrm>
            <a:off x="1188720" y="1143000"/>
            <a:ext cx="3200400" cy="32004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Supply Chain Sovereignty</a:t>
            </a:r>
            <a:endParaRPr lang="en-US" sz="1200" dirty="0"/>
          </a:p>
        </p:txBody>
      </p:sp>
      <p:sp>
        <p:nvSpPr>
          <p:cNvPr id="7" name="Text 4"/>
          <p:cNvSpPr/>
          <p:nvPr/>
        </p:nvSpPr>
        <p:spPr>
          <a:xfrm>
            <a:off x="1188720" y="1463040"/>
            <a:ext cx="7223760" cy="822960"/>
          </a:xfrm>
          <a:prstGeom prst="rect">
            <a:avLst/>
          </a:prstGeom>
          <a:noFill/>
          <a:ln/>
        </p:spPr>
        <p:txBody>
          <a:bodyPr wrap="square" rtlCol="0" anchor="ctr"/>
          <a:lstStyle/>
          <a:p>
            <a:pPr indent="0" marL="0">
              <a:lnSpc>
                <a:spcPct val="125000"/>
              </a:lnSpc>
              <a:buNone/>
            </a:pPr>
            <a:r>
              <a:rPr lang="en-US" sz="950" dirty="0">
                <a:solidFill>
                  <a:srgbClr val="B0B0B0"/>
                </a:solidFill>
                <a:latin typeface="Georgia" pitchFamily="34" charset="0"/>
                <a:ea typeface="Georgia" pitchFamily="34" charset="-122"/>
                <a:cs typeface="Georgia" pitchFamily="34" charset="-120"/>
              </a:rPr>
              <a:t>Post-pandemic disruption structurally delegitimised single-point dependency. South Asian industrial capacity — Pakistan's textile base, Bangladesh's export zones, India's pharma corridors — has shifted from second-order alternative to credible anchor of reoriented production geography.</a:t>
            </a:r>
            <a:endParaRPr lang="en-US" sz="950" dirty="0"/>
          </a:p>
        </p:txBody>
      </p:sp>
      <p:sp>
        <p:nvSpPr>
          <p:cNvPr id="8" name="Text 5"/>
          <p:cNvSpPr/>
          <p:nvPr/>
        </p:nvSpPr>
        <p:spPr>
          <a:xfrm>
            <a:off x="731520" y="2423160"/>
            <a:ext cx="365760" cy="365760"/>
          </a:xfrm>
          <a:prstGeom prst="rect">
            <a:avLst/>
          </a:prstGeom>
          <a:noFill/>
          <a:ln/>
        </p:spPr>
        <p:txBody>
          <a:bodyPr wrap="square" rtlCol="0" anchor="ctr"/>
          <a:lstStyle/>
          <a:p>
            <a:pPr indent="0" marL="0">
              <a:buNone/>
            </a:pPr>
            <a:r>
              <a:rPr lang="en-US" sz="1800" b="1" dirty="0">
                <a:solidFill>
                  <a:srgbClr val="C9A84C"/>
                </a:solidFill>
                <a:latin typeface="Georgia" pitchFamily="34" charset="0"/>
                <a:ea typeface="Georgia" pitchFamily="34" charset="-122"/>
                <a:cs typeface="Georgia" pitchFamily="34" charset="-120"/>
              </a:rPr>
              <a:t>II</a:t>
            </a:r>
            <a:endParaRPr lang="en-US" sz="1800" dirty="0"/>
          </a:p>
        </p:txBody>
      </p:sp>
      <p:sp>
        <p:nvSpPr>
          <p:cNvPr id="9" name="Text 6"/>
          <p:cNvSpPr/>
          <p:nvPr/>
        </p:nvSpPr>
        <p:spPr>
          <a:xfrm>
            <a:off x="1188720" y="2423160"/>
            <a:ext cx="3200400" cy="32004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GCC Capital as Trade Architecture</a:t>
            </a:r>
            <a:endParaRPr lang="en-US" sz="1200" dirty="0"/>
          </a:p>
        </p:txBody>
      </p:sp>
      <p:sp>
        <p:nvSpPr>
          <p:cNvPr id="10" name="Text 7"/>
          <p:cNvSpPr/>
          <p:nvPr/>
        </p:nvSpPr>
        <p:spPr>
          <a:xfrm>
            <a:off x="1188720" y="2743200"/>
            <a:ext cx="7223760" cy="822960"/>
          </a:xfrm>
          <a:prstGeom prst="rect">
            <a:avLst/>
          </a:prstGeom>
          <a:noFill/>
          <a:ln/>
        </p:spPr>
        <p:txBody>
          <a:bodyPr wrap="square" rtlCol="0" anchor="ctr"/>
          <a:lstStyle/>
          <a:p>
            <a:pPr indent="0" marL="0">
              <a:lnSpc>
                <a:spcPct val="125000"/>
              </a:lnSpc>
              <a:buNone/>
            </a:pPr>
            <a:r>
              <a:rPr lang="en-US" sz="950" dirty="0">
                <a:solidFill>
                  <a:srgbClr val="B0B0B0"/>
                </a:solidFill>
                <a:latin typeface="Georgia" pitchFamily="34" charset="0"/>
                <a:ea typeface="Georgia" pitchFamily="34" charset="-122"/>
                <a:cs typeface="Georgia" pitchFamily="34" charset="-120"/>
              </a:rPr>
              <a:t>Gulf sovereign wealth funds have transitioned from passive return-seekers to active architects of trade connectivity. Investment into logistics, port capacity, cold-chain, and trade finance signals industrial sovereignty by capital.</a:t>
            </a:r>
            <a:endParaRPr lang="en-US" sz="950" dirty="0"/>
          </a:p>
        </p:txBody>
      </p:sp>
      <p:sp>
        <p:nvSpPr>
          <p:cNvPr id="11" name="Text 8"/>
          <p:cNvSpPr/>
          <p:nvPr/>
        </p:nvSpPr>
        <p:spPr>
          <a:xfrm>
            <a:off x="731520" y="3703320"/>
            <a:ext cx="365760" cy="365760"/>
          </a:xfrm>
          <a:prstGeom prst="rect">
            <a:avLst/>
          </a:prstGeom>
          <a:noFill/>
          <a:ln/>
        </p:spPr>
        <p:txBody>
          <a:bodyPr wrap="square" rtlCol="0" anchor="ctr"/>
          <a:lstStyle/>
          <a:p>
            <a:pPr indent="0" marL="0">
              <a:buNone/>
            </a:pPr>
            <a:r>
              <a:rPr lang="en-US" sz="1800" b="1" dirty="0">
                <a:solidFill>
                  <a:srgbClr val="C9A84C"/>
                </a:solidFill>
                <a:latin typeface="Georgia" pitchFamily="34" charset="0"/>
                <a:ea typeface="Georgia" pitchFamily="34" charset="-122"/>
                <a:cs typeface="Georgia" pitchFamily="34" charset="-120"/>
              </a:rPr>
              <a:t>III</a:t>
            </a:r>
            <a:endParaRPr lang="en-US" sz="1800" dirty="0"/>
          </a:p>
        </p:txBody>
      </p:sp>
      <p:sp>
        <p:nvSpPr>
          <p:cNvPr id="12" name="Text 9"/>
          <p:cNvSpPr/>
          <p:nvPr/>
        </p:nvSpPr>
        <p:spPr>
          <a:xfrm>
            <a:off x="1188720" y="3703320"/>
            <a:ext cx="3200400" cy="32004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EU Regulatory Reconfiguration</a:t>
            </a:r>
            <a:endParaRPr lang="en-US" sz="1200" dirty="0"/>
          </a:p>
        </p:txBody>
      </p:sp>
      <p:sp>
        <p:nvSpPr>
          <p:cNvPr id="13" name="Text 10"/>
          <p:cNvSpPr/>
          <p:nvPr/>
        </p:nvSpPr>
        <p:spPr>
          <a:xfrm>
            <a:off x="1188720" y="4023360"/>
            <a:ext cx="7223760" cy="822960"/>
          </a:xfrm>
          <a:prstGeom prst="rect">
            <a:avLst/>
          </a:prstGeom>
          <a:noFill/>
          <a:ln/>
        </p:spPr>
        <p:txBody>
          <a:bodyPr wrap="square" rtlCol="0" anchor="ctr"/>
          <a:lstStyle/>
          <a:p>
            <a:pPr indent="0" marL="0">
              <a:lnSpc>
                <a:spcPct val="125000"/>
              </a:lnSpc>
              <a:buNone/>
            </a:pPr>
            <a:r>
              <a:rPr lang="en-US" sz="950" dirty="0">
                <a:solidFill>
                  <a:srgbClr val="B0B0B0"/>
                </a:solidFill>
                <a:latin typeface="Georgia" pitchFamily="34" charset="0"/>
                <a:ea typeface="Georgia" pitchFamily="34" charset="-122"/>
                <a:cs typeface="Georgia" pitchFamily="34" charset="-120"/>
              </a:rPr>
              <a:t>The EU's twin digital-green transitions are actively redesigning market access conditions. CBAM, supply chain due diligence, and ESG mandates are reconstructing the regulatory interface — creating structural leverage for the positioned, exclusion for the unready.</a:t>
            </a:r>
            <a:endParaRPr lang="en-US" sz="950" dirty="0"/>
          </a:p>
        </p:txBody>
      </p:sp>
      <p:sp>
        <p:nvSpPr>
          <p:cNvPr id="14" name="Text 11"/>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THE EPISTEMIC ARCHITECTURE PROBLEM</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143000"/>
            <a:ext cx="7680960" cy="548640"/>
          </a:xfrm>
          <a:prstGeom prst="rect">
            <a:avLst/>
          </a:prstGeom>
          <a:noFill/>
          <a:ln/>
        </p:spPr>
        <p:txBody>
          <a:bodyPr wrap="square" rtlCol="0" anchor="ctr"/>
          <a:lstStyle/>
          <a:p>
            <a:pPr indent="0" marL="0">
              <a:lnSpc>
                <a:spcPct val="130000"/>
              </a:lnSpc>
              <a:buNone/>
            </a:pPr>
            <a:r>
              <a:rPr lang="en-US" sz="1400" b="1" i="1" dirty="0">
                <a:solidFill>
                  <a:srgbClr val="FFFFFF"/>
                </a:solidFill>
                <a:latin typeface="Georgia" pitchFamily="34" charset="0"/>
                <a:ea typeface="Georgia" pitchFamily="34" charset="-122"/>
                <a:cs typeface="Georgia" pitchFamily="34" charset="-120"/>
              </a:rPr>
              <a:t>The corridor's fundamental integration deficit is not logistical, financial, or diplomatic.</a:t>
            </a:r>
            <a:endParaRPr lang="en-US" sz="1400" dirty="0"/>
          </a:p>
          <a:p>
            <a:pPr indent="0" marL="0">
              <a:lnSpc>
                <a:spcPct val="130000"/>
              </a:lnSpc>
              <a:buNone/>
            </a:pPr>
            <a:r>
              <a:rPr lang="en-US" sz="1400" b="1" i="1" dirty="0">
                <a:solidFill>
                  <a:srgbClr val="FFFFFF"/>
                </a:solidFill>
                <a:latin typeface="Georgia" pitchFamily="34" charset="0"/>
                <a:ea typeface="Georgia" pitchFamily="34" charset="-122"/>
                <a:cs typeface="Georgia" pitchFamily="34" charset="-120"/>
              </a:rPr>
              <a:t>It is epistemic.</a:t>
            </a:r>
            <a:endParaRPr lang="en-US" sz="1400" dirty="0"/>
          </a:p>
        </p:txBody>
      </p:sp>
      <p:sp>
        <p:nvSpPr>
          <p:cNvPr id="6" name="Shape 3"/>
          <p:cNvSpPr/>
          <p:nvPr/>
        </p:nvSpPr>
        <p:spPr>
          <a:xfrm>
            <a:off x="731520" y="1920240"/>
            <a:ext cx="7680960" cy="548640"/>
          </a:xfrm>
          <a:prstGeom prst="rect">
            <a:avLst/>
          </a:prstGeom>
          <a:solidFill>
            <a:srgbClr val="111111"/>
          </a:solidFill>
          <a:ln w="3810">
            <a:solidFill>
              <a:srgbClr val="8B7635"/>
            </a:solidFill>
            <a:prstDash val="solid"/>
          </a:ln>
        </p:spPr>
      </p:sp>
      <p:sp>
        <p:nvSpPr>
          <p:cNvPr id="7" name="Text 4"/>
          <p:cNvSpPr/>
          <p:nvPr/>
        </p:nvSpPr>
        <p:spPr>
          <a:xfrm>
            <a:off x="914400" y="1965960"/>
            <a:ext cx="2011680" cy="457200"/>
          </a:xfrm>
          <a:prstGeom prst="rect">
            <a:avLst/>
          </a:prstGeom>
          <a:noFill/>
          <a:ln/>
        </p:spPr>
        <p:txBody>
          <a:bodyPr wrap="square" rtlCol="0" anchor="ctr"/>
          <a:lstStyle/>
          <a:p>
            <a:pPr indent="0" marL="0">
              <a:buNone/>
            </a:pPr>
            <a:r>
              <a:rPr lang="en-US" sz="1050" b="1" dirty="0">
                <a:solidFill>
                  <a:srgbClr val="C9A84C"/>
                </a:solidFill>
                <a:latin typeface="Georgia" pitchFamily="34" charset="0"/>
                <a:ea typeface="Georgia" pitchFamily="34" charset="-122"/>
                <a:cs typeface="Georgia" pitchFamily="34" charset="-120"/>
              </a:rPr>
              <a:t>European Buyer</a:t>
            </a:r>
            <a:endParaRPr lang="en-US" sz="1050" dirty="0"/>
          </a:p>
        </p:txBody>
      </p:sp>
      <p:sp>
        <p:nvSpPr>
          <p:cNvPr id="8" name="Text 5"/>
          <p:cNvSpPr/>
          <p:nvPr/>
        </p:nvSpPr>
        <p:spPr>
          <a:xfrm>
            <a:off x="3017520" y="1965960"/>
            <a:ext cx="5212080" cy="45720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Cannot conduct real-time ESG compliance assessment of South Asian supplier networks</a:t>
            </a:r>
            <a:endParaRPr lang="en-US" sz="950" dirty="0"/>
          </a:p>
        </p:txBody>
      </p:sp>
      <p:sp>
        <p:nvSpPr>
          <p:cNvPr id="9" name="Shape 6"/>
          <p:cNvSpPr/>
          <p:nvPr/>
        </p:nvSpPr>
        <p:spPr>
          <a:xfrm>
            <a:off x="731520" y="2606040"/>
            <a:ext cx="7680960" cy="548640"/>
          </a:xfrm>
          <a:prstGeom prst="rect">
            <a:avLst/>
          </a:prstGeom>
          <a:solidFill>
            <a:srgbClr val="111111"/>
          </a:solidFill>
          <a:ln w="3810">
            <a:solidFill>
              <a:srgbClr val="8B7635"/>
            </a:solidFill>
            <a:prstDash val="solid"/>
          </a:ln>
        </p:spPr>
      </p:sp>
      <p:sp>
        <p:nvSpPr>
          <p:cNvPr id="10" name="Text 7"/>
          <p:cNvSpPr/>
          <p:nvPr/>
        </p:nvSpPr>
        <p:spPr>
          <a:xfrm>
            <a:off x="914400" y="2651760"/>
            <a:ext cx="2011680" cy="457200"/>
          </a:xfrm>
          <a:prstGeom prst="rect">
            <a:avLst/>
          </a:prstGeom>
          <a:noFill/>
          <a:ln/>
        </p:spPr>
        <p:txBody>
          <a:bodyPr wrap="square" rtlCol="0" anchor="ctr"/>
          <a:lstStyle/>
          <a:p>
            <a:pPr indent="0" marL="0">
              <a:buNone/>
            </a:pPr>
            <a:r>
              <a:rPr lang="en-US" sz="1050" b="1" dirty="0">
                <a:solidFill>
                  <a:srgbClr val="C9A84C"/>
                </a:solidFill>
                <a:latin typeface="Georgia" pitchFamily="34" charset="0"/>
                <a:ea typeface="Georgia" pitchFamily="34" charset="-122"/>
                <a:cs typeface="Georgia" pitchFamily="34" charset="-120"/>
              </a:rPr>
              <a:t>Gulf Sovereign Fund</a:t>
            </a:r>
            <a:endParaRPr lang="en-US" sz="1050" dirty="0"/>
          </a:p>
        </p:txBody>
      </p:sp>
      <p:sp>
        <p:nvSpPr>
          <p:cNvPr id="11" name="Text 8"/>
          <p:cNvSpPr/>
          <p:nvPr/>
        </p:nvSpPr>
        <p:spPr>
          <a:xfrm>
            <a:off x="3017520" y="2651760"/>
            <a:ext cx="5212080" cy="45720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Cannot efficiently construct risk-adjusted views of South Asian manufacturing asset classes</a:t>
            </a:r>
            <a:endParaRPr lang="en-US" sz="950" dirty="0"/>
          </a:p>
        </p:txBody>
      </p:sp>
      <p:sp>
        <p:nvSpPr>
          <p:cNvPr id="12" name="Shape 9"/>
          <p:cNvSpPr/>
          <p:nvPr/>
        </p:nvSpPr>
        <p:spPr>
          <a:xfrm>
            <a:off x="731520" y="3291840"/>
            <a:ext cx="7680960" cy="548640"/>
          </a:xfrm>
          <a:prstGeom prst="rect">
            <a:avLst/>
          </a:prstGeom>
          <a:solidFill>
            <a:srgbClr val="111111"/>
          </a:solidFill>
          <a:ln w="3810">
            <a:solidFill>
              <a:srgbClr val="8B7635"/>
            </a:solidFill>
            <a:prstDash val="solid"/>
          </a:ln>
        </p:spPr>
      </p:sp>
      <p:sp>
        <p:nvSpPr>
          <p:cNvPr id="13" name="Text 10"/>
          <p:cNvSpPr/>
          <p:nvPr/>
        </p:nvSpPr>
        <p:spPr>
          <a:xfrm>
            <a:off x="914400" y="3337560"/>
            <a:ext cx="2011680" cy="457200"/>
          </a:xfrm>
          <a:prstGeom prst="rect">
            <a:avLst/>
          </a:prstGeom>
          <a:noFill/>
          <a:ln/>
        </p:spPr>
        <p:txBody>
          <a:bodyPr wrap="square" rtlCol="0" anchor="ctr"/>
          <a:lstStyle/>
          <a:p>
            <a:pPr indent="0" marL="0">
              <a:buNone/>
            </a:pPr>
            <a:r>
              <a:rPr lang="en-US" sz="1050" b="1" dirty="0">
                <a:solidFill>
                  <a:srgbClr val="C9A84C"/>
                </a:solidFill>
                <a:latin typeface="Georgia" pitchFamily="34" charset="0"/>
                <a:ea typeface="Georgia" pitchFamily="34" charset="-122"/>
                <a:cs typeface="Georgia" pitchFamily="34" charset="-120"/>
              </a:rPr>
              <a:t>South Asian Exporter</a:t>
            </a:r>
            <a:endParaRPr lang="en-US" sz="1050" dirty="0"/>
          </a:p>
        </p:txBody>
      </p:sp>
      <p:sp>
        <p:nvSpPr>
          <p:cNvPr id="14" name="Text 11"/>
          <p:cNvSpPr/>
          <p:nvPr/>
        </p:nvSpPr>
        <p:spPr>
          <a:xfrm>
            <a:off x="3017520" y="3337560"/>
            <a:ext cx="5212080" cy="45720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Cannot anticipate the evolving regulatory architecture of EU institutional procurement at speed</a:t>
            </a:r>
            <a:endParaRPr lang="en-US" sz="950" dirty="0"/>
          </a:p>
        </p:txBody>
      </p:sp>
      <p:sp>
        <p:nvSpPr>
          <p:cNvPr id="15" name="Shape 12"/>
          <p:cNvSpPr/>
          <p:nvPr/>
        </p:nvSpPr>
        <p:spPr>
          <a:xfrm>
            <a:off x="731520" y="3886200"/>
            <a:ext cx="7680960" cy="640080"/>
          </a:xfrm>
          <a:prstGeom prst="rect">
            <a:avLst/>
          </a:prstGeom>
          <a:solidFill>
            <a:srgbClr val="1A1A1A"/>
          </a:solidFill>
          <a:ln w="12700">
            <a:solidFill>
              <a:srgbClr val="C9A84C"/>
            </a:solidFill>
            <a:prstDash val="solid"/>
          </a:ln>
        </p:spPr>
      </p:sp>
      <p:sp>
        <p:nvSpPr>
          <p:cNvPr id="16" name="Text 13"/>
          <p:cNvSpPr/>
          <p:nvPr/>
        </p:nvSpPr>
        <p:spPr>
          <a:xfrm>
            <a:off x="914400" y="3931920"/>
            <a:ext cx="7315200" cy="548640"/>
          </a:xfrm>
          <a:prstGeom prst="rect">
            <a:avLst/>
          </a:prstGeom>
          <a:noFill/>
          <a:ln/>
        </p:spPr>
        <p:txBody>
          <a:bodyPr wrap="square" rtlCol="0" anchor="ctr"/>
          <a:lstStyle/>
          <a:p>
            <a:pPr indent="0" marL="0">
              <a:lnSpc>
                <a:spcPct val="120000"/>
              </a:lnSpc>
              <a:buNone/>
            </a:pPr>
            <a:r>
              <a:rPr lang="en-US" sz="950" i="1" dirty="0">
                <a:solidFill>
                  <a:srgbClr val="D4B96A"/>
                </a:solidFill>
                <a:latin typeface="Georgia" pitchFamily="34" charset="0"/>
                <a:ea typeface="Georgia" pitchFamily="34" charset="-122"/>
                <a:cs typeface="Georgia" pitchFamily="34" charset="-120"/>
              </a:rPr>
              <a:t>The governance priority is not the regulation of AI in trade — it is the multilateral governance of the data infrastructure that makes AI-driven trade intelligence viable as a corridor-level public good.</a:t>
            </a:r>
            <a:endParaRPr lang="en-US" sz="950" dirty="0"/>
          </a:p>
        </p:txBody>
      </p:sp>
      <p:sp>
        <p:nvSpPr>
          <p:cNvPr id="17" name="Text 14"/>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THE GCC DIPLOMATIC ASYMMETRY</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143000"/>
            <a:ext cx="3657600" cy="320040"/>
          </a:xfrm>
          <a:prstGeom prst="rect">
            <a:avLst/>
          </a:prstGeom>
          <a:noFill/>
          <a:ln/>
        </p:spPr>
        <p:txBody>
          <a:bodyPr wrap="square" rtlCol="0" anchor="ctr"/>
          <a:lstStyle/>
          <a:p>
            <a:pPr indent="0" marL="0">
              <a:buNone/>
            </a:pPr>
            <a:r>
              <a:rPr lang="en-US" sz="1200" b="1" dirty="0">
                <a:solidFill>
                  <a:srgbClr val="C9A84C"/>
                </a:solidFill>
                <a:latin typeface="Georgia" pitchFamily="34" charset="0"/>
                <a:ea typeface="Georgia" pitchFamily="34" charset="-122"/>
                <a:cs typeface="Georgia" pitchFamily="34" charset="-120"/>
              </a:rPr>
              <a:t>The Structural Position</a:t>
            </a:r>
            <a:endParaRPr lang="en-US" sz="1200" dirty="0"/>
          </a:p>
        </p:txBody>
      </p:sp>
      <p:sp>
        <p:nvSpPr>
          <p:cNvPr id="6" name="Text 3"/>
          <p:cNvSpPr/>
          <p:nvPr/>
        </p:nvSpPr>
        <p:spPr>
          <a:xfrm>
            <a:off x="731520" y="1508760"/>
            <a:ext cx="3657600" cy="2286000"/>
          </a:xfrm>
          <a:prstGeom prst="rect">
            <a:avLst/>
          </a:prstGeom>
          <a:noFill/>
          <a:ln/>
        </p:spPr>
        <p:txBody>
          <a:bodyPr wrap="square" rtlCol="0" anchor="ctr"/>
          <a:lstStyle/>
          <a:p>
            <a:pPr indent="0" marL="0">
              <a:lnSpc>
                <a:spcPct val="130000"/>
              </a:lnSpc>
              <a:buNone/>
            </a:pPr>
            <a:r>
              <a:rPr lang="en-US" sz="1000" dirty="0">
                <a:solidFill>
                  <a:srgbClr val="B0B0B0"/>
                </a:solidFill>
                <a:latin typeface="Georgia" pitchFamily="34" charset="0"/>
                <a:ea typeface="Georgia" pitchFamily="34" charset="-122"/>
                <a:cs typeface="Georgia" pitchFamily="34" charset="-120"/>
              </a:rPr>
              <a:t>Gulf states maintain simultaneous high-trust relationships with the EU, South Asian sovereign governments, and multilateral frameworks at a depth no other corridor actor can replicate.</a:t>
            </a:r>
            <a:endParaRPr lang="en-US" sz="1000" dirty="0"/>
          </a:p>
          <a:p>
            <a:pPr indent="0" marL="0">
              <a:lnSpc>
                <a:spcPct val="130000"/>
              </a:lnSpc>
              <a:buNone/>
            </a:pPr>
            <a:endParaRPr lang="en-US" sz="1000" dirty="0"/>
          </a:p>
          <a:p>
            <a:pPr indent="0" marL="0">
              <a:lnSpc>
                <a:spcPct val="130000"/>
              </a:lnSpc>
              <a:buNone/>
            </a:pPr>
            <a:r>
              <a:rPr lang="en-US" sz="1000" dirty="0">
                <a:solidFill>
                  <a:srgbClr val="B0B0B0"/>
                </a:solidFill>
                <a:latin typeface="Georgia" pitchFamily="34" charset="0"/>
                <a:ea typeface="Georgia" pitchFamily="34" charset="-122"/>
                <a:cs typeface="Georgia" pitchFamily="34" charset="-120"/>
              </a:rPr>
              <a:t>This diplomatic positioning — combined with capital deployment scale, infrastructure ownership, and logistical centrality — makes GCC governments the natural conveners of corridor governance architecture.</a:t>
            </a:r>
            <a:endParaRPr lang="en-US" sz="1000" dirty="0"/>
          </a:p>
        </p:txBody>
      </p:sp>
      <p:sp>
        <p:nvSpPr>
          <p:cNvPr id="7" name="Text 4"/>
          <p:cNvSpPr/>
          <p:nvPr/>
        </p:nvSpPr>
        <p:spPr>
          <a:xfrm>
            <a:off x="4846320" y="1143000"/>
            <a:ext cx="3566160" cy="320040"/>
          </a:xfrm>
          <a:prstGeom prst="rect">
            <a:avLst/>
          </a:prstGeom>
          <a:noFill/>
          <a:ln/>
        </p:spPr>
        <p:txBody>
          <a:bodyPr wrap="square" rtlCol="0" anchor="ctr"/>
          <a:lstStyle/>
          <a:p>
            <a:pPr indent="0" marL="0">
              <a:buNone/>
            </a:pPr>
            <a:r>
              <a:rPr lang="en-US" sz="1200" b="1" dirty="0">
                <a:solidFill>
                  <a:srgbClr val="C9A84C"/>
                </a:solidFill>
                <a:latin typeface="Georgia" pitchFamily="34" charset="0"/>
                <a:ea typeface="Georgia" pitchFamily="34" charset="-122"/>
                <a:cs typeface="Georgia" pitchFamily="34" charset="-120"/>
              </a:rPr>
              <a:t>The Institutional Proposition</a:t>
            </a:r>
            <a:endParaRPr lang="en-US" sz="1200" dirty="0"/>
          </a:p>
        </p:txBody>
      </p:sp>
      <p:sp>
        <p:nvSpPr>
          <p:cNvPr id="8" name="Text 5"/>
          <p:cNvSpPr/>
          <p:nvPr/>
        </p:nvSpPr>
        <p:spPr>
          <a:xfrm>
            <a:off x="4846320" y="1508760"/>
            <a:ext cx="3566160" cy="2286000"/>
          </a:xfrm>
          <a:prstGeom prst="rect">
            <a:avLst/>
          </a:prstGeom>
          <a:noFill/>
          <a:ln/>
        </p:spPr>
        <p:txBody>
          <a:bodyPr wrap="square" rtlCol="0" anchor="ctr"/>
          <a:lstStyle/>
          <a:p>
            <a:pPr indent="0" marL="0">
              <a:lnSpc>
                <a:spcPct val="130000"/>
              </a:lnSpc>
              <a:buNone/>
            </a:pPr>
            <a:r>
              <a:rPr lang="en-US" sz="1000" dirty="0">
                <a:solidFill>
                  <a:srgbClr val="B0B0B0"/>
                </a:solidFill>
                <a:latin typeface="Georgia" pitchFamily="34" charset="0"/>
                <a:ea typeface="Georgia" pitchFamily="34" charset="-122"/>
                <a:cs typeface="Georgia" pitchFamily="34" charset="-120"/>
              </a:rPr>
              <a:t>A standing trilateral trade facilitation forum — co-chaired by GCC institutional actors — would not be an innovation. It would be the institutional formalisation of a structural reality that already exists in practice.</a:t>
            </a:r>
            <a:endParaRPr lang="en-US" sz="1000" dirty="0"/>
          </a:p>
          <a:p>
            <a:pPr indent="0" marL="0">
              <a:lnSpc>
                <a:spcPct val="130000"/>
              </a:lnSpc>
              <a:buNone/>
            </a:pPr>
            <a:endParaRPr lang="en-US" sz="1000" dirty="0"/>
          </a:p>
          <a:p>
            <a:pPr indent="0" marL="0">
              <a:lnSpc>
                <a:spcPct val="130000"/>
              </a:lnSpc>
              <a:buNone/>
            </a:pPr>
            <a:r>
              <a:rPr lang="en-US" sz="1000" dirty="0">
                <a:solidFill>
                  <a:srgbClr val="B0B0B0"/>
                </a:solidFill>
                <a:latin typeface="Georgia" pitchFamily="34" charset="0"/>
                <a:ea typeface="Georgia" pitchFamily="34" charset="-122"/>
                <a:cs typeface="Georgia" pitchFamily="34" charset="-120"/>
              </a:rPr>
              <a:t>Frameworks that institutionalise this role will prove more durable than those routing governance exclusively through EU–South Asia bilateral mechanisms.</a:t>
            </a:r>
            <a:endParaRPr lang="en-US" sz="1000" dirty="0"/>
          </a:p>
        </p:txBody>
      </p:sp>
      <p:sp>
        <p:nvSpPr>
          <p:cNvPr id="9" name="Shape 6"/>
          <p:cNvSpPr/>
          <p:nvPr/>
        </p:nvSpPr>
        <p:spPr>
          <a:xfrm>
            <a:off x="4617720" y="1143000"/>
            <a:ext cx="0" cy="2560320"/>
          </a:xfrm>
          <a:prstGeom prst="line">
            <a:avLst/>
          </a:prstGeom>
          <a:noFill/>
          <a:ln w="6350">
            <a:solidFill>
              <a:srgbClr val="8B7635"/>
            </a:solidFill>
            <a:prstDash val="solid"/>
          </a:ln>
        </p:spPr>
      </p:sp>
      <p:sp>
        <p:nvSpPr>
          <p:cNvPr id="10" name="Shape 7"/>
          <p:cNvSpPr/>
          <p:nvPr/>
        </p:nvSpPr>
        <p:spPr>
          <a:xfrm>
            <a:off x="731520" y="3977640"/>
            <a:ext cx="7680960" cy="502920"/>
          </a:xfrm>
          <a:prstGeom prst="rect">
            <a:avLst/>
          </a:prstGeom>
          <a:solidFill>
            <a:srgbClr val="1A1A1A"/>
          </a:solidFill>
          <a:ln w="12700">
            <a:solidFill>
              <a:srgbClr val="C9A84C"/>
            </a:solidFill>
            <a:prstDash val="solid"/>
          </a:ln>
        </p:spPr>
      </p:sp>
      <p:sp>
        <p:nvSpPr>
          <p:cNvPr id="11" name="Text 8"/>
          <p:cNvSpPr/>
          <p:nvPr/>
        </p:nvSpPr>
        <p:spPr>
          <a:xfrm>
            <a:off x="914400" y="4005072"/>
            <a:ext cx="7315200" cy="457200"/>
          </a:xfrm>
          <a:prstGeom prst="rect">
            <a:avLst/>
          </a:prstGeom>
          <a:noFill/>
          <a:ln/>
        </p:spPr>
        <p:txBody>
          <a:bodyPr wrap="square" rtlCol="0" anchor="ctr"/>
          <a:lstStyle/>
          <a:p>
            <a:pPr indent="0" marL="0">
              <a:lnSpc>
                <a:spcPct val="120000"/>
              </a:lnSpc>
              <a:buNone/>
            </a:pPr>
            <a:r>
              <a:rPr lang="en-US" sz="950" i="1" dirty="0">
                <a:solidFill>
                  <a:srgbClr val="D4B96A"/>
                </a:solidFill>
                <a:latin typeface="Georgia" pitchFamily="34" charset="0"/>
                <a:ea typeface="Georgia" pitchFamily="34" charset="-122"/>
                <a:cs typeface="Georgia" pitchFamily="34" charset="-120"/>
              </a:rPr>
              <a:t>The GCC's latent role as diplomatic convener — distinct from its function as transit geography — remains the most underutilised institutional asset in the corridor's architecture.</a:t>
            </a:r>
            <a:endParaRPr lang="en-US" sz="950" dirty="0"/>
          </a:p>
        </p:txBody>
      </p:sp>
      <p:sp>
        <p:nvSpPr>
          <p:cNvPr id="12" name="Text 9"/>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THE OMAN–GWADAR CORRIDOR ARBITRAGE</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097280"/>
            <a:ext cx="7680960" cy="32004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Strategic Intelligence Layer: Multi-Modal Hedge</a:t>
            </a:r>
            <a:endParaRPr lang="en-US" sz="1200" dirty="0"/>
          </a:p>
        </p:txBody>
      </p:sp>
      <p:sp>
        <p:nvSpPr>
          <p:cNvPr id="6" name="Text 3"/>
          <p:cNvSpPr/>
          <p:nvPr/>
        </p:nvSpPr>
        <p:spPr>
          <a:xfrm>
            <a:off x="731520" y="1463040"/>
            <a:ext cx="7680960" cy="640080"/>
          </a:xfrm>
          <a:prstGeom prst="rect">
            <a:avLst/>
          </a:prstGeom>
          <a:noFill/>
          <a:ln/>
        </p:spPr>
        <p:txBody>
          <a:bodyPr wrap="square" rtlCol="0" anchor="ctr"/>
          <a:lstStyle/>
          <a:p>
            <a:pPr indent="0" marL="0">
              <a:lnSpc>
                <a:spcPct val="125000"/>
              </a:lnSpc>
              <a:buNone/>
            </a:pPr>
            <a:r>
              <a:rPr lang="en-US" sz="1000" dirty="0">
                <a:solidFill>
                  <a:srgbClr val="B0B0B0"/>
                </a:solidFill>
                <a:latin typeface="Georgia" pitchFamily="34" charset="0"/>
                <a:ea typeface="Georgia" pitchFamily="34" charset="-122"/>
                <a:cs typeface="Georgia" pitchFamily="34" charset="-120"/>
              </a:rPr>
              <a:t>Current corridor analysis is over-indexed on maritime routing through established chokepoints — Hormuz, Suez, Malacca. This routing concentration creates systemic risk exposure structurally underweighted in both trade policy and sovereign investment strategies.</a:t>
            </a:r>
            <a:endParaRPr lang="en-US" sz="1000" dirty="0"/>
          </a:p>
        </p:txBody>
      </p:sp>
      <p:sp>
        <p:nvSpPr>
          <p:cNvPr id="7" name="Shape 4"/>
          <p:cNvSpPr/>
          <p:nvPr/>
        </p:nvSpPr>
        <p:spPr>
          <a:xfrm>
            <a:off x="731520" y="2331720"/>
            <a:ext cx="2468880" cy="1097280"/>
          </a:xfrm>
          <a:prstGeom prst="rect">
            <a:avLst/>
          </a:prstGeom>
          <a:solidFill>
            <a:srgbClr val="111111"/>
          </a:solidFill>
          <a:ln w="6350">
            <a:solidFill>
              <a:srgbClr val="8B7635"/>
            </a:solidFill>
            <a:prstDash val="solid"/>
          </a:ln>
        </p:spPr>
      </p:sp>
      <p:sp>
        <p:nvSpPr>
          <p:cNvPr id="8" name="Text 5"/>
          <p:cNvSpPr/>
          <p:nvPr/>
        </p:nvSpPr>
        <p:spPr>
          <a:xfrm>
            <a:off x="868680" y="2377440"/>
            <a:ext cx="2194560" cy="457200"/>
          </a:xfrm>
          <a:prstGeom prst="rect">
            <a:avLst/>
          </a:prstGeom>
          <a:noFill/>
          <a:ln/>
        </p:spPr>
        <p:txBody>
          <a:bodyPr wrap="square" rtlCol="0" anchor="ctr"/>
          <a:lstStyle/>
          <a:p>
            <a:pPr algn="ctr" indent="0" marL="0">
              <a:buNone/>
            </a:pPr>
            <a:r>
              <a:rPr lang="en-US" sz="2000" b="1" dirty="0">
                <a:solidFill>
                  <a:srgbClr val="C9A84C"/>
                </a:solidFill>
                <a:latin typeface="Georgia" pitchFamily="34" charset="0"/>
                <a:ea typeface="Georgia" pitchFamily="34" charset="-122"/>
                <a:cs typeface="Georgia" pitchFamily="34" charset="-120"/>
              </a:rPr>
              <a:t>20–25%</a:t>
            </a:r>
            <a:endParaRPr lang="en-US" sz="2000" dirty="0"/>
          </a:p>
        </p:txBody>
      </p:sp>
      <p:sp>
        <p:nvSpPr>
          <p:cNvPr id="9" name="Text 6"/>
          <p:cNvSpPr/>
          <p:nvPr/>
        </p:nvSpPr>
        <p:spPr>
          <a:xfrm>
            <a:off x="868680" y="2880360"/>
            <a:ext cx="2194560" cy="457200"/>
          </a:xfrm>
          <a:prstGeom prst="rect">
            <a:avLst/>
          </a:prstGeom>
          <a:noFill/>
          <a:ln/>
        </p:spPr>
        <p:txBody>
          <a:bodyPr wrap="square" rtlCol="0" anchor="ctr"/>
          <a:lstStyle/>
          <a:p>
            <a:pPr algn="ctr" indent="0" marL="0">
              <a:buNone/>
            </a:pPr>
            <a:r>
              <a:rPr lang="en-US" sz="900" dirty="0">
                <a:solidFill>
                  <a:srgbClr val="B0B0B0"/>
                </a:solidFill>
                <a:latin typeface="Georgia" pitchFamily="34" charset="0"/>
                <a:ea typeface="Georgia" pitchFamily="34" charset="-122"/>
                <a:cs typeface="Georgia" pitchFamily="34" charset="-120"/>
              </a:rPr>
              <a:t>Projected cargo</a:t>
            </a:r>
            <a:endParaRPr lang="en-US" sz="900" dirty="0"/>
          </a:p>
          <a:p>
            <a:pPr algn="ctr" indent="0" marL="0">
              <a:buNone/>
            </a:pPr>
            <a:r>
              <a:rPr lang="en-US" sz="900" dirty="0">
                <a:solidFill>
                  <a:srgbClr val="B0B0B0"/>
                </a:solidFill>
                <a:latin typeface="Georgia" pitchFamily="34" charset="0"/>
                <a:ea typeface="Georgia" pitchFamily="34" charset="-122"/>
                <a:cs typeface="Georgia" pitchFamily="34" charset="-120"/>
              </a:rPr>
              <a:t>redistribution</a:t>
            </a:r>
            <a:endParaRPr lang="en-US" sz="900" dirty="0"/>
          </a:p>
        </p:txBody>
      </p:sp>
      <p:sp>
        <p:nvSpPr>
          <p:cNvPr id="10" name="Shape 7"/>
          <p:cNvSpPr/>
          <p:nvPr/>
        </p:nvSpPr>
        <p:spPr>
          <a:xfrm>
            <a:off x="3429000" y="2331720"/>
            <a:ext cx="2468880" cy="1097280"/>
          </a:xfrm>
          <a:prstGeom prst="rect">
            <a:avLst/>
          </a:prstGeom>
          <a:solidFill>
            <a:srgbClr val="111111"/>
          </a:solidFill>
          <a:ln w="6350">
            <a:solidFill>
              <a:srgbClr val="8B7635"/>
            </a:solidFill>
            <a:prstDash val="solid"/>
          </a:ln>
        </p:spPr>
      </p:sp>
      <p:sp>
        <p:nvSpPr>
          <p:cNvPr id="11" name="Text 8"/>
          <p:cNvSpPr/>
          <p:nvPr/>
        </p:nvSpPr>
        <p:spPr>
          <a:xfrm>
            <a:off x="3566160" y="2377440"/>
            <a:ext cx="2194560" cy="457200"/>
          </a:xfrm>
          <a:prstGeom prst="rect">
            <a:avLst/>
          </a:prstGeom>
          <a:noFill/>
          <a:ln/>
        </p:spPr>
        <p:txBody>
          <a:bodyPr wrap="square" rtlCol="0" anchor="ctr"/>
          <a:lstStyle/>
          <a:p>
            <a:pPr algn="ctr" indent="0" marL="0">
              <a:buNone/>
            </a:pPr>
            <a:r>
              <a:rPr lang="en-US" sz="2000" b="1" dirty="0">
                <a:solidFill>
                  <a:srgbClr val="C9A84C"/>
                </a:solidFill>
                <a:latin typeface="Georgia" pitchFamily="34" charset="0"/>
                <a:ea typeface="Georgia" pitchFamily="34" charset="-122"/>
                <a:cs typeface="Georgia" pitchFamily="34" charset="-120"/>
              </a:rPr>
              <a:t>DUQM</a:t>
            </a:r>
            <a:endParaRPr lang="en-US" sz="2000" dirty="0"/>
          </a:p>
        </p:txBody>
      </p:sp>
      <p:sp>
        <p:nvSpPr>
          <p:cNvPr id="12" name="Text 9"/>
          <p:cNvSpPr/>
          <p:nvPr/>
        </p:nvSpPr>
        <p:spPr>
          <a:xfrm>
            <a:off x="3566160" y="2880360"/>
            <a:ext cx="2194560" cy="457200"/>
          </a:xfrm>
          <a:prstGeom prst="rect">
            <a:avLst/>
          </a:prstGeom>
          <a:noFill/>
          <a:ln/>
        </p:spPr>
        <p:txBody>
          <a:bodyPr wrap="square" rtlCol="0" anchor="ctr"/>
          <a:lstStyle/>
          <a:p>
            <a:pPr algn="ctr" indent="0" marL="0">
              <a:buNone/>
            </a:pPr>
            <a:r>
              <a:rPr lang="en-US" sz="900" dirty="0">
                <a:solidFill>
                  <a:srgbClr val="B0B0B0"/>
                </a:solidFill>
                <a:latin typeface="Georgia" pitchFamily="34" charset="0"/>
                <a:ea typeface="Georgia" pitchFamily="34" charset="-122"/>
                <a:cs typeface="Georgia" pitchFamily="34" charset="-120"/>
              </a:rPr>
              <a:t>Deep-water facility</a:t>
            </a:r>
            <a:endParaRPr lang="en-US" sz="900" dirty="0"/>
          </a:p>
          <a:p>
            <a:pPr algn="ctr" indent="0" marL="0">
              <a:buNone/>
            </a:pPr>
            <a:r>
              <a:rPr lang="en-US" sz="900" dirty="0">
                <a:solidFill>
                  <a:srgbClr val="B0B0B0"/>
                </a:solidFill>
                <a:latin typeface="Georgia" pitchFamily="34" charset="0"/>
                <a:ea typeface="Georgia" pitchFamily="34" charset="-122"/>
                <a:cs typeface="Georgia" pitchFamily="34" charset="-120"/>
              </a:rPr>
              <a:t>strategic non-alignment</a:t>
            </a:r>
            <a:endParaRPr lang="en-US" sz="900" dirty="0"/>
          </a:p>
        </p:txBody>
      </p:sp>
      <p:sp>
        <p:nvSpPr>
          <p:cNvPr id="13" name="Shape 10"/>
          <p:cNvSpPr/>
          <p:nvPr/>
        </p:nvSpPr>
        <p:spPr>
          <a:xfrm>
            <a:off x="6126480" y="2331720"/>
            <a:ext cx="2468880" cy="1097280"/>
          </a:xfrm>
          <a:prstGeom prst="rect">
            <a:avLst/>
          </a:prstGeom>
          <a:solidFill>
            <a:srgbClr val="111111"/>
          </a:solidFill>
          <a:ln w="6350">
            <a:solidFill>
              <a:srgbClr val="8B7635"/>
            </a:solidFill>
            <a:prstDash val="solid"/>
          </a:ln>
        </p:spPr>
      </p:sp>
      <p:sp>
        <p:nvSpPr>
          <p:cNvPr id="14" name="Text 11"/>
          <p:cNvSpPr/>
          <p:nvPr/>
        </p:nvSpPr>
        <p:spPr>
          <a:xfrm>
            <a:off x="6263640" y="2377440"/>
            <a:ext cx="2194560" cy="457200"/>
          </a:xfrm>
          <a:prstGeom prst="rect">
            <a:avLst/>
          </a:prstGeom>
          <a:noFill/>
          <a:ln/>
        </p:spPr>
        <p:txBody>
          <a:bodyPr wrap="square" rtlCol="0" anchor="ctr"/>
          <a:lstStyle/>
          <a:p>
            <a:pPr algn="ctr" indent="0" marL="0">
              <a:buNone/>
            </a:pPr>
            <a:r>
              <a:rPr lang="en-US" sz="2000" b="1" dirty="0">
                <a:solidFill>
                  <a:srgbClr val="C9A84C"/>
                </a:solidFill>
                <a:latin typeface="Georgia" pitchFamily="34" charset="0"/>
                <a:ea typeface="Georgia" pitchFamily="34" charset="-122"/>
                <a:cs typeface="Georgia" pitchFamily="34" charset="-120"/>
              </a:rPr>
              <a:t>GWADAR</a:t>
            </a:r>
            <a:endParaRPr lang="en-US" sz="2000" dirty="0"/>
          </a:p>
        </p:txBody>
      </p:sp>
      <p:sp>
        <p:nvSpPr>
          <p:cNvPr id="15" name="Text 12"/>
          <p:cNvSpPr/>
          <p:nvPr/>
        </p:nvSpPr>
        <p:spPr>
          <a:xfrm>
            <a:off x="6263640" y="2880360"/>
            <a:ext cx="2194560" cy="457200"/>
          </a:xfrm>
          <a:prstGeom prst="rect">
            <a:avLst/>
          </a:prstGeom>
          <a:noFill/>
          <a:ln/>
        </p:spPr>
        <p:txBody>
          <a:bodyPr wrap="square" rtlCol="0" anchor="ctr"/>
          <a:lstStyle/>
          <a:p>
            <a:pPr algn="ctr" indent="0" marL="0">
              <a:buNone/>
            </a:pPr>
            <a:r>
              <a:rPr lang="en-US" sz="900" dirty="0">
                <a:solidFill>
                  <a:srgbClr val="B0B0B0"/>
                </a:solidFill>
                <a:latin typeface="Georgia" pitchFamily="34" charset="0"/>
                <a:ea typeface="Georgia" pitchFamily="34" charset="-122"/>
                <a:cs typeface="Georgia" pitchFamily="34" charset="-120"/>
              </a:rPr>
              <a:t>Corridor terminus</a:t>
            </a:r>
            <a:endParaRPr lang="en-US" sz="900" dirty="0"/>
          </a:p>
          <a:p>
            <a:pPr algn="ctr" indent="0" marL="0">
              <a:buNone/>
            </a:pPr>
            <a:r>
              <a:rPr lang="en-US" sz="900" dirty="0">
                <a:solidFill>
                  <a:srgbClr val="B0B0B0"/>
                </a:solidFill>
                <a:latin typeface="Georgia" pitchFamily="34" charset="0"/>
                <a:ea typeface="Georgia" pitchFamily="34" charset="-122"/>
                <a:cs typeface="Georgia" pitchFamily="34" charset="-120"/>
              </a:rPr>
              <a:t>BPEC repositioning</a:t>
            </a:r>
            <a:endParaRPr lang="en-US" sz="900" dirty="0"/>
          </a:p>
        </p:txBody>
      </p:sp>
      <p:sp>
        <p:nvSpPr>
          <p:cNvPr id="16" name="Shape 13"/>
          <p:cNvSpPr/>
          <p:nvPr/>
        </p:nvSpPr>
        <p:spPr>
          <a:xfrm>
            <a:off x="731520" y="3703320"/>
            <a:ext cx="7680960" cy="777240"/>
          </a:xfrm>
          <a:prstGeom prst="rect">
            <a:avLst/>
          </a:prstGeom>
          <a:solidFill>
            <a:srgbClr val="1A1A1A"/>
          </a:solidFill>
          <a:ln w="12700">
            <a:solidFill>
              <a:srgbClr val="C9A84C"/>
            </a:solidFill>
            <a:prstDash val="solid"/>
          </a:ln>
        </p:spPr>
      </p:sp>
      <p:sp>
        <p:nvSpPr>
          <p:cNvPr id="17" name="Text 14"/>
          <p:cNvSpPr/>
          <p:nvPr/>
        </p:nvSpPr>
        <p:spPr>
          <a:xfrm>
            <a:off x="914400" y="3749040"/>
            <a:ext cx="7315200" cy="685800"/>
          </a:xfrm>
          <a:prstGeom prst="rect">
            <a:avLst/>
          </a:prstGeom>
          <a:noFill/>
          <a:ln/>
        </p:spPr>
        <p:txBody>
          <a:bodyPr wrap="square" rtlCol="0" anchor="ctr"/>
          <a:lstStyle/>
          <a:p>
            <a:pPr indent="0" marL="0">
              <a:lnSpc>
                <a:spcPct val="120000"/>
              </a:lnSpc>
              <a:buNone/>
            </a:pPr>
            <a:r>
              <a:rPr lang="en-US" sz="950" i="1" dirty="0">
                <a:solidFill>
                  <a:srgbClr val="D4B96A"/>
                </a:solidFill>
                <a:latin typeface="Georgia" pitchFamily="34" charset="0"/>
                <a:ea typeface="Georgia" pitchFamily="34" charset="-122"/>
                <a:cs typeface="Georgia" pitchFamily="34" charset="-120"/>
              </a:rPr>
              <a:t>The Oman–Gwadar axis represents the corridor's most significant structural leverage point for systemic resilience — and it remains almost entirely absent from current multilateral trade architecture discussions.</a:t>
            </a:r>
            <a:endParaRPr lang="en-US" sz="950" dirty="0"/>
          </a:p>
          <a:p>
            <a:pPr indent="0" marL="0">
              <a:lnSpc>
                <a:spcPct val="120000"/>
              </a:lnSpc>
              <a:buNone/>
            </a:pPr>
            <a:endParaRPr lang="en-US" sz="950" dirty="0"/>
          </a:p>
          <a:p>
            <a:pPr indent="0" marL="0">
              <a:lnSpc>
                <a:spcPct val="120000"/>
              </a:lnSpc>
              <a:buNone/>
            </a:pPr>
            <a:r>
              <a:rPr lang="en-US" sz="950" i="1" dirty="0">
                <a:solidFill>
                  <a:srgbClr val="D4B96A"/>
                </a:solidFill>
                <a:latin typeface="Georgia" pitchFamily="34" charset="0"/>
                <a:ea typeface="Georgia" pitchFamily="34" charset="-122"/>
                <a:cs typeface="Georgia" pitchFamily="34" charset="-120"/>
              </a:rPr>
              <a:t>This is a geopolitical hedge, not a logistics project.</a:t>
            </a:r>
            <a:endParaRPr lang="en-US" sz="950" dirty="0"/>
          </a:p>
        </p:txBody>
      </p:sp>
      <p:sp>
        <p:nvSpPr>
          <p:cNvPr id="18" name="Text 15"/>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AI AS SOVEREIGN INFRASTRUCTURE</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097280"/>
            <a:ext cx="7680960" cy="502920"/>
          </a:xfrm>
          <a:prstGeom prst="rect">
            <a:avLst/>
          </a:prstGeom>
          <a:noFill/>
          <a:ln/>
        </p:spPr>
        <p:txBody>
          <a:bodyPr wrap="square" rtlCol="0" anchor="ctr"/>
          <a:lstStyle/>
          <a:p>
            <a:pPr indent="0" marL="0">
              <a:lnSpc>
                <a:spcPct val="130000"/>
              </a:lnSpc>
              <a:buNone/>
            </a:pPr>
            <a:r>
              <a:rPr lang="en-US" sz="1300" b="1" i="1" dirty="0">
                <a:solidFill>
                  <a:srgbClr val="FFFFFF"/>
                </a:solidFill>
                <a:latin typeface="Georgia" pitchFamily="34" charset="0"/>
                <a:ea typeface="Georgia" pitchFamily="34" charset="-122"/>
                <a:cs typeface="Georgia" pitchFamily="34" charset="-120"/>
              </a:rPr>
              <a:t>AI, in this framing, is not a trade facilitation tool.</a:t>
            </a:r>
            <a:endParaRPr lang="en-US" sz="1300" dirty="0"/>
          </a:p>
          <a:p>
            <a:pPr indent="0" marL="0">
              <a:lnSpc>
                <a:spcPct val="130000"/>
              </a:lnSpc>
              <a:buNone/>
            </a:pPr>
            <a:r>
              <a:rPr lang="en-US" sz="1300" b="1" i="1" dirty="0">
                <a:solidFill>
                  <a:srgbClr val="FFFFFF"/>
                </a:solidFill>
                <a:latin typeface="Georgia" pitchFamily="34" charset="0"/>
                <a:ea typeface="Georgia" pitchFamily="34" charset="-122"/>
                <a:cs typeface="Georgia" pitchFamily="34" charset="-120"/>
              </a:rPr>
              <a:t>It is a sovereign instrument of trade system design.</a:t>
            </a:r>
            <a:endParaRPr lang="en-US" sz="1300" dirty="0"/>
          </a:p>
        </p:txBody>
      </p:sp>
      <p:sp>
        <p:nvSpPr>
          <p:cNvPr id="6" name="Shape 3"/>
          <p:cNvSpPr/>
          <p:nvPr/>
        </p:nvSpPr>
        <p:spPr>
          <a:xfrm>
            <a:off x="731520" y="1783080"/>
            <a:ext cx="3840480" cy="1143000"/>
          </a:xfrm>
          <a:prstGeom prst="rect">
            <a:avLst/>
          </a:prstGeom>
          <a:solidFill>
            <a:srgbClr val="111111"/>
          </a:solidFill>
          <a:ln w="3810">
            <a:solidFill>
              <a:srgbClr val="8B7635"/>
            </a:solidFill>
            <a:prstDash val="solid"/>
          </a:ln>
        </p:spPr>
      </p:sp>
      <p:pic>
        <p:nvPicPr>
          <p:cNvPr id="7" name="Image 1" descr="preencoded.png">    </p:cNvPr>
          <p:cNvPicPr>
            <a:picLocks noChangeAspect="1"/>
          </p:cNvPicPr>
          <p:nvPr/>
        </p:nvPicPr>
        <p:blipFill>
          <a:blip r:embed="rId2"/>
          <a:stretch>
            <a:fillRect/>
          </a:stretch>
        </p:blipFill>
        <p:spPr>
          <a:xfrm>
            <a:off x="868680" y="1920240"/>
            <a:ext cx="274320" cy="274320"/>
          </a:xfrm>
          <a:prstGeom prst="rect">
            <a:avLst/>
          </a:prstGeom>
        </p:spPr>
      </p:pic>
      <p:sp>
        <p:nvSpPr>
          <p:cNvPr id="8" name="Text 4"/>
          <p:cNvSpPr/>
          <p:nvPr/>
        </p:nvSpPr>
        <p:spPr>
          <a:xfrm>
            <a:off x="1234440" y="1874520"/>
            <a:ext cx="3200400" cy="320040"/>
          </a:xfrm>
          <a:prstGeom prst="rect">
            <a:avLst/>
          </a:prstGeom>
          <a:noFill/>
          <a:ln/>
        </p:spPr>
        <p:txBody>
          <a:bodyPr wrap="square" rtlCol="0" anchor="ctr"/>
          <a:lstStyle/>
          <a:p>
            <a:pPr indent="0" marL="0">
              <a:buNone/>
            </a:pPr>
            <a:r>
              <a:rPr lang="en-US" sz="1000" b="1" dirty="0">
                <a:solidFill>
                  <a:srgbClr val="C9A84C"/>
                </a:solidFill>
                <a:latin typeface="Georgia" pitchFamily="34" charset="0"/>
                <a:ea typeface="Georgia" pitchFamily="34" charset="-122"/>
                <a:cs typeface="Georgia" pitchFamily="34" charset="-120"/>
              </a:rPr>
              <a:t>Trade Intelligence Infrastructure</a:t>
            </a:r>
            <a:endParaRPr lang="en-US" sz="1000" dirty="0"/>
          </a:p>
        </p:txBody>
      </p:sp>
      <p:sp>
        <p:nvSpPr>
          <p:cNvPr id="9" name="Text 5"/>
          <p:cNvSpPr/>
          <p:nvPr/>
        </p:nvSpPr>
        <p:spPr>
          <a:xfrm>
            <a:off x="868680" y="2240280"/>
            <a:ext cx="3566160" cy="594360"/>
          </a:xfrm>
          <a:prstGeom prst="rect">
            <a:avLst/>
          </a:prstGeom>
          <a:noFill/>
          <a:ln/>
        </p:spPr>
        <p:txBody>
          <a:bodyPr wrap="square" rtlCol="0" anchor="ctr"/>
          <a:lstStyle/>
          <a:p>
            <a:pPr indent="0" marL="0">
              <a:lnSpc>
                <a:spcPct val="120000"/>
              </a:lnSpc>
              <a:buNone/>
            </a:pPr>
            <a:r>
              <a:rPr lang="en-US" sz="850" dirty="0">
                <a:solidFill>
                  <a:srgbClr val="B0B0B0"/>
                </a:solidFill>
                <a:latin typeface="Georgia" pitchFamily="34" charset="0"/>
                <a:ea typeface="Georgia" pitchFamily="34" charset="-122"/>
                <a:cs typeface="Georgia" pitchFamily="34" charset="-120"/>
              </a:rPr>
              <a:t>Aggregating, normalising, and synthesising data streams from across EU, GCC, and South Asian environments into a unified intelligence layer.</a:t>
            </a:r>
            <a:endParaRPr lang="en-US" sz="850" dirty="0"/>
          </a:p>
        </p:txBody>
      </p:sp>
      <p:sp>
        <p:nvSpPr>
          <p:cNvPr id="10" name="Shape 6"/>
          <p:cNvSpPr/>
          <p:nvPr/>
        </p:nvSpPr>
        <p:spPr>
          <a:xfrm>
            <a:off x="4800600" y="1783080"/>
            <a:ext cx="3840480" cy="1143000"/>
          </a:xfrm>
          <a:prstGeom prst="rect">
            <a:avLst/>
          </a:prstGeom>
          <a:solidFill>
            <a:srgbClr val="111111"/>
          </a:solidFill>
          <a:ln w="3810">
            <a:solidFill>
              <a:srgbClr val="8B7635"/>
            </a:solidFill>
            <a:prstDash val="solid"/>
          </a:ln>
        </p:spPr>
      </p:sp>
      <p:pic>
        <p:nvPicPr>
          <p:cNvPr id="11" name="Image 2" descr="preencoded.png">    </p:cNvPr>
          <p:cNvPicPr>
            <a:picLocks noChangeAspect="1"/>
          </p:cNvPicPr>
          <p:nvPr/>
        </p:nvPicPr>
        <p:blipFill>
          <a:blip r:embed="rId3"/>
          <a:stretch>
            <a:fillRect/>
          </a:stretch>
        </p:blipFill>
        <p:spPr>
          <a:xfrm>
            <a:off x="4937760" y="1920240"/>
            <a:ext cx="274320" cy="274320"/>
          </a:xfrm>
          <a:prstGeom prst="rect">
            <a:avLst/>
          </a:prstGeom>
        </p:spPr>
      </p:pic>
      <p:sp>
        <p:nvSpPr>
          <p:cNvPr id="12" name="Text 7"/>
          <p:cNvSpPr/>
          <p:nvPr/>
        </p:nvSpPr>
        <p:spPr>
          <a:xfrm>
            <a:off x="5303520" y="1874520"/>
            <a:ext cx="3200400" cy="320040"/>
          </a:xfrm>
          <a:prstGeom prst="rect">
            <a:avLst/>
          </a:prstGeom>
          <a:noFill/>
          <a:ln/>
        </p:spPr>
        <p:txBody>
          <a:bodyPr wrap="square" rtlCol="0" anchor="ctr"/>
          <a:lstStyle/>
          <a:p>
            <a:pPr indent="0" marL="0">
              <a:buNone/>
            </a:pPr>
            <a:r>
              <a:rPr lang="en-US" sz="1000" b="1" dirty="0">
                <a:solidFill>
                  <a:srgbClr val="C9A84C"/>
                </a:solidFill>
                <a:latin typeface="Georgia" pitchFamily="34" charset="0"/>
                <a:ea typeface="Georgia" pitchFamily="34" charset="-122"/>
                <a:cs typeface="Georgia" pitchFamily="34" charset="-120"/>
              </a:rPr>
              <a:t>Predictive Regulatory Systems</a:t>
            </a:r>
            <a:endParaRPr lang="en-US" sz="1000" dirty="0"/>
          </a:p>
        </p:txBody>
      </p:sp>
      <p:sp>
        <p:nvSpPr>
          <p:cNvPr id="13" name="Text 8"/>
          <p:cNvSpPr/>
          <p:nvPr/>
        </p:nvSpPr>
        <p:spPr>
          <a:xfrm>
            <a:off x="4937760" y="2240280"/>
            <a:ext cx="3566160" cy="594360"/>
          </a:xfrm>
          <a:prstGeom prst="rect">
            <a:avLst/>
          </a:prstGeom>
          <a:noFill/>
          <a:ln/>
        </p:spPr>
        <p:txBody>
          <a:bodyPr wrap="square" rtlCol="0" anchor="ctr"/>
          <a:lstStyle/>
          <a:p>
            <a:pPr indent="0" marL="0">
              <a:lnSpc>
                <a:spcPct val="120000"/>
              </a:lnSpc>
              <a:buNone/>
            </a:pPr>
            <a:r>
              <a:rPr lang="en-US" sz="850" dirty="0">
                <a:solidFill>
                  <a:srgbClr val="B0B0B0"/>
                </a:solidFill>
                <a:latin typeface="Georgia" pitchFamily="34" charset="0"/>
                <a:ea typeface="Georgia" pitchFamily="34" charset="-122"/>
                <a:cs typeface="Georgia" pitchFamily="34" charset="-120"/>
              </a:rPr>
              <a:t>Real-time modeling of EU regulatory trajectories, impact simulation across supplier networks, and automated qualification gap analysis at institutional scale.</a:t>
            </a:r>
            <a:endParaRPr lang="en-US" sz="850" dirty="0"/>
          </a:p>
        </p:txBody>
      </p:sp>
      <p:sp>
        <p:nvSpPr>
          <p:cNvPr id="14" name="Shape 9"/>
          <p:cNvSpPr/>
          <p:nvPr/>
        </p:nvSpPr>
        <p:spPr>
          <a:xfrm>
            <a:off x="731520" y="3108960"/>
            <a:ext cx="3840480" cy="1143000"/>
          </a:xfrm>
          <a:prstGeom prst="rect">
            <a:avLst/>
          </a:prstGeom>
          <a:solidFill>
            <a:srgbClr val="111111"/>
          </a:solidFill>
          <a:ln w="3810">
            <a:solidFill>
              <a:srgbClr val="8B7635"/>
            </a:solidFill>
            <a:prstDash val="solid"/>
          </a:ln>
        </p:spPr>
      </p:sp>
      <p:pic>
        <p:nvPicPr>
          <p:cNvPr id="15" name="Image 3" descr="preencoded.png">    </p:cNvPr>
          <p:cNvPicPr>
            <a:picLocks noChangeAspect="1"/>
          </p:cNvPicPr>
          <p:nvPr/>
        </p:nvPicPr>
        <p:blipFill>
          <a:blip r:embed="rId4"/>
          <a:stretch>
            <a:fillRect/>
          </a:stretch>
        </p:blipFill>
        <p:spPr>
          <a:xfrm>
            <a:off x="868680" y="3246120"/>
            <a:ext cx="274320" cy="274320"/>
          </a:xfrm>
          <a:prstGeom prst="rect">
            <a:avLst/>
          </a:prstGeom>
        </p:spPr>
      </p:pic>
      <p:sp>
        <p:nvSpPr>
          <p:cNvPr id="16" name="Text 10"/>
          <p:cNvSpPr/>
          <p:nvPr/>
        </p:nvSpPr>
        <p:spPr>
          <a:xfrm>
            <a:off x="1234440" y="3200400"/>
            <a:ext cx="3200400" cy="320040"/>
          </a:xfrm>
          <a:prstGeom prst="rect">
            <a:avLst/>
          </a:prstGeom>
          <a:noFill/>
          <a:ln/>
        </p:spPr>
        <p:txBody>
          <a:bodyPr wrap="square" rtlCol="0" anchor="ctr"/>
          <a:lstStyle/>
          <a:p>
            <a:pPr indent="0" marL="0">
              <a:buNone/>
            </a:pPr>
            <a:r>
              <a:rPr lang="en-US" sz="1000" b="1" dirty="0">
                <a:solidFill>
                  <a:srgbClr val="C9A84C"/>
                </a:solidFill>
                <a:latin typeface="Georgia" pitchFamily="34" charset="0"/>
                <a:ea typeface="Georgia" pitchFamily="34" charset="-122"/>
                <a:cs typeface="Georgia" pitchFamily="34" charset="-120"/>
              </a:rPr>
              <a:t>Supply Chain Visibility Architecture</a:t>
            </a:r>
            <a:endParaRPr lang="en-US" sz="1000" dirty="0"/>
          </a:p>
        </p:txBody>
      </p:sp>
      <p:sp>
        <p:nvSpPr>
          <p:cNvPr id="17" name="Text 11"/>
          <p:cNvSpPr/>
          <p:nvPr/>
        </p:nvSpPr>
        <p:spPr>
          <a:xfrm>
            <a:off x="868680" y="3566160"/>
            <a:ext cx="3566160" cy="594360"/>
          </a:xfrm>
          <a:prstGeom prst="rect">
            <a:avLst/>
          </a:prstGeom>
          <a:noFill/>
          <a:ln/>
        </p:spPr>
        <p:txBody>
          <a:bodyPr wrap="square" rtlCol="0" anchor="ctr"/>
          <a:lstStyle/>
          <a:p>
            <a:pPr indent="0" marL="0">
              <a:lnSpc>
                <a:spcPct val="120000"/>
              </a:lnSpc>
              <a:buNone/>
            </a:pPr>
            <a:r>
              <a:rPr lang="en-US" sz="850" dirty="0">
                <a:solidFill>
                  <a:srgbClr val="B0B0B0"/>
                </a:solidFill>
                <a:latin typeface="Georgia" pitchFamily="34" charset="0"/>
                <a:ea typeface="Georgia" pitchFamily="34" charset="-122"/>
                <a:cs typeface="Georgia" pitchFamily="34" charset="-120"/>
              </a:rPr>
              <a:t>End-to-end corridor-level visibility as sovereign asset — mapping production, logistics, compliance, and financial status across the full corridor in real time.</a:t>
            </a:r>
            <a:endParaRPr lang="en-US" sz="850" dirty="0"/>
          </a:p>
        </p:txBody>
      </p:sp>
      <p:sp>
        <p:nvSpPr>
          <p:cNvPr id="18" name="Shape 12"/>
          <p:cNvSpPr/>
          <p:nvPr/>
        </p:nvSpPr>
        <p:spPr>
          <a:xfrm>
            <a:off x="4800600" y="3108960"/>
            <a:ext cx="3840480" cy="1143000"/>
          </a:xfrm>
          <a:prstGeom prst="rect">
            <a:avLst/>
          </a:prstGeom>
          <a:solidFill>
            <a:srgbClr val="111111"/>
          </a:solidFill>
          <a:ln w="3810">
            <a:solidFill>
              <a:srgbClr val="8B7635"/>
            </a:solidFill>
            <a:prstDash val="solid"/>
          </a:ln>
        </p:spPr>
      </p:sp>
      <p:pic>
        <p:nvPicPr>
          <p:cNvPr id="19" name="Image 4" descr="preencoded.png">    </p:cNvPr>
          <p:cNvPicPr>
            <a:picLocks noChangeAspect="1"/>
          </p:cNvPicPr>
          <p:nvPr/>
        </p:nvPicPr>
        <p:blipFill>
          <a:blip r:embed="rId5"/>
          <a:stretch>
            <a:fillRect/>
          </a:stretch>
        </p:blipFill>
        <p:spPr>
          <a:xfrm>
            <a:off x="4937760" y="3246120"/>
            <a:ext cx="274320" cy="274320"/>
          </a:xfrm>
          <a:prstGeom prst="rect">
            <a:avLst/>
          </a:prstGeom>
        </p:spPr>
      </p:pic>
      <p:sp>
        <p:nvSpPr>
          <p:cNvPr id="20" name="Text 13"/>
          <p:cNvSpPr/>
          <p:nvPr/>
        </p:nvSpPr>
        <p:spPr>
          <a:xfrm>
            <a:off x="5303520" y="3200400"/>
            <a:ext cx="3200400" cy="320040"/>
          </a:xfrm>
          <a:prstGeom prst="rect">
            <a:avLst/>
          </a:prstGeom>
          <a:noFill/>
          <a:ln/>
        </p:spPr>
        <p:txBody>
          <a:bodyPr wrap="square" rtlCol="0" anchor="ctr"/>
          <a:lstStyle/>
          <a:p>
            <a:pPr indent="0" marL="0">
              <a:buNone/>
            </a:pPr>
            <a:r>
              <a:rPr lang="en-US" sz="1000" b="1" dirty="0">
                <a:solidFill>
                  <a:srgbClr val="C9A84C"/>
                </a:solidFill>
                <a:latin typeface="Georgia" pitchFamily="34" charset="0"/>
                <a:ea typeface="Georgia" pitchFamily="34" charset="-122"/>
                <a:cs typeface="Georgia" pitchFamily="34" charset="-120"/>
              </a:rPr>
              <a:t>Rapid Systems Prototyping</a:t>
            </a:r>
            <a:endParaRPr lang="en-US" sz="1000" dirty="0"/>
          </a:p>
        </p:txBody>
      </p:sp>
      <p:sp>
        <p:nvSpPr>
          <p:cNvPr id="21" name="Text 14"/>
          <p:cNvSpPr/>
          <p:nvPr/>
        </p:nvSpPr>
        <p:spPr>
          <a:xfrm>
            <a:off x="4937760" y="3566160"/>
            <a:ext cx="3566160" cy="594360"/>
          </a:xfrm>
          <a:prstGeom prst="rect">
            <a:avLst/>
          </a:prstGeom>
          <a:noFill/>
          <a:ln/>
        </p:spPr>
        <p:txBody>
          <a:bodyPr wrap="square" rtlCol="0" anchor="ctr"/>
          <a:lstStyle/>
          <a:p>
            <a:pPr indent="0" marL="0">
              <a:lnSpc>
                <a:spcPct val="120000"/>
              </a:lnSpc>
              <a:buNone/>
            </a:pPr>
            <a:r>
              <a:rPr lang="en-US" sz="850" dirty="0">
                <a:solidFill>
                  <a:srgbClr val="B0B0B0"/>
                </a:solidFill>
                <a:latin typeface="Georgia" pitchFamily="34" charset="0"/>
                <a:ea typeface="Georgia" pitchFamily="34" charset="-122"/>
                <a:cs typeface="Georgia" pitchFamily="34" charset="-120"/>
              </a:rPr>
              <a:t>Stress-testing governance frameworks against simulated disruption — Hormuz closure, EU regulatory step-change, sovereign instability — before institutional commitment.</a:t>
            </a:r>
            <a:endParaRPr lang="en-US" sz="850" dirty="0"/>
          </a:p>
        </p:txBody>
      </p:sp>
      <p:sp>
        <p:nvSpPr>
          <p:cNvPr id="22" name="Text 15"/>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POLICY ARCHITECTURE</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051560"/>
            <a:ext cx="7680960" cy="274320"/>
          </a:xfrm>
          <a:prstGeom prst="rect">
            <a:avLst/>
          </a:prstGeom>
          <a:noFill/>
          <a:ln/>
        </p:spPr>
        <p:txBody>
          <a:bodyPr wrap="square" rtlCol="0" anchor="ctr"/>
          <a:lstStyle/>
          <a:p>
            <a:pPr indent="0" marL="0">
              <a:buNone/>
            </a:pPr>
            <a:r>
              <a:rPr lang="en-US" sz="1100" i="1" dirty="0">
                <a:solidFill>
                  <a:srgbClr val="FFFFFF"/>
                </a:solidFill>
                <a:latin typeface="Georgia" pitchFamily="34" charset="0"/>
                <a:ea typeface="Georgia" pitchFamily="34" charset="-122"/>
                <a:cs typeface="Georgia" pitchFamily="34" charset="-120"/>
              </a:rPr>
              <a:t>Institutional Design Architecture — Five Interlocking Pillars</a:t>
            </a:r>
            <a:endParaRPr lang="en-US" sz="1100" dirty="0"/>
          </a:p>
        </p:txBody>
      </p:sp>
      <p:sp>
        <p:nvSpPr>
          <p:cNvPr id="6" name="Text 3"/>
          <p:cNvSpPr/>
          <p:nvPr/>
        </p:nvSpPr>
        <p:spPr>
          <a:xfrm>
            <a:off x="731520" y="1417320"/>
            <a:ext cx="320040" cy="594360"/>
          </a:xfrm>
          <a:prstGeom prst="rect">
            <a:avLst/>
          </a:prstGeom>
          <a:noFill/>
          <a:ln/>
        </p:spPr>
        <p:txBody>
          <a:bodyPr wrap="square" rtlCol="0" anchor="t"/>
          <a:lstStyle/>
          <a:p>
            <a:pPr indent="0" marL="0">
              <a:buNone/>
            </a:pPr>
            <a:r>
              <a:rPr lang="en-US" sz="1400" b="1" dirty="0">
                <a:solidFill>
                  <a:srgbClr val="C9A84C"/>
                </a:solidFill>
                <a:latin typeface="Georgia" pitchFamily="34" charset="0"/>
                <a:ea typeface="Georgia" pitchFamily="34" charset="-122"/>
                <a:cs typeface="Georgia" pitchFamily="34" charset="-120"/>
              </a:rPr>
              <a:t>I</a:t>
            </a:r>
            <a:endParaRPr lang="en-US" sz="1400" dirty="0"/>
          </a:p>
        </p:txBody>
      </p:sp>
      <p:sp>
        <p:nvSpPr>
          <p:cNvPr id="7" name="Shape 4"/>
          <p:cNvSpPr/>
          <p:nvPr/>
        </p:nvSpPr>
        <p:spPr>
          <a:xfrm>
            <a:off x="1097280" y="1417320"/>
            <a:ext cx="36576" cy="566928"/>
          </a:xfrm>
          <a:prstGeom prst="rect">
            <a:avLst/>
          </a:prstGeom>
          <a:solidFill>
            <a:srgbClr val="8B7635"/>
          </a:solidFill>
          <a:ln/>
        </p:spPr>
      </p:sp>
      <p:sp>
        <p:nvSpPr>
          <p:cNvPr id="8" name="Text 5"/>
          <p:cNvSpPr/>
          <p:nvPr/>
        </p:nvSpPr>
        <p:spPr>
          <a:xfrm>
            <a:off x="1280160" y="1399032"/>
            <a:ext cx="7132320" cy="228600"/>
          </a:xfrm>
          <a:prstGeom prst="rect">
            <a:avLst/>
          </a:prstGeom>
          <a:noFill/>
          <a:ln/>
        </p:spPr>
        <p:txBody>
          <a:bodyPr wrap="square" lIns="0" tIns="0" rIns="0" bIns="0" rtlCol="0" anchor="ctr"/>
          <a:lstStyle/>
          <a:p>
            <a:pPr indent="0" marL="0">
              <a:buNone/>
            </a:pPr>
            <a:r>
              <a:rPr lang="en-US" sz="1050" b="1" dirty="0">
                <a:solidFill>
                  <a:srgbClr val="D4B96A"/>
                </a:solidFill>
                <a:latin typeface="Georgia" pitchFamily="34" charset="0"/>
                <a:ea typeface="Georgia" pitchFamily="34" charset="-122"/>
                <a:cs typeface="Georgia" pitchFamily="34" charset="-120"/>
              </a:rPr>
              <a:t>Corridor Data Governance Framework</a:t>
            </a:r>
            <a:endParaRPr lang="en-US" sz="1050" dirty="0"/>
          </a:p>
        </p:txBody>
      </p:sp>
      <p:sp>
        <p:nvSpPr>
          <p:cNvPr id="9" name="Text 6"/>
          <p:cNvSpPr/>
          <p:nvPr/>
        </p:nvSpPr>
        <p:spPr>
          <a:xfrm>
            <a:off x="1280160" y="1636776"/>
            <a:ext cx="7132320" cy="347472"/>
          </a:xfrm>
          <a:prstGeom prst="rect">
            <a:avLst/>
          </a:prstGeom>
          <a:noFill/>
          <a:ln/>
        </p:spPr>
        <p:txBody>
          <a:bodyPr wrap="square" lIns="0" tIns="0" rIns="0" bIns="0" rtlCol="0" anchor="ctr"/>
          <a:lstStyle/>
          <a:p>
            <a:pPr indent="0" marL="0">
              <a:lnSpc>
                <a:spcPct val="115000"/>
              </a:lnSpc>
              <a:buNone/>
            </a:pPr>
            <a:r>
              <a:rPr lang="en-US" sz="850" dirty="0">
                <a:solidFill>
                  <a:srgbClr val="B0B0B0"/>
                </a:solidFill>
                <a:latin typeface="Georgia" pitchFamily="34" charset="0"/>
                <a:ea typeface="Georgia" pitchFamily="34" charset="-122"/>
                <a:cs typeface="Georgia" pitchFamily="34" charset="-120"/>
              </a:rPr>
              <a:t>AI-ready data standards across supplier compliance, logistics, demand signals, and regulatory trajectories. Machine-readable from inception, sovereign oversight embedded.</a:t>
            </a:r>
            <a:endParaRPr lang="en-US" sz="850" dirty="0"/>
          </a:p>
        </p:txBody>
      </p:sp>
      <p:sp>
        <p:nvSpPr>
          <p:cNvPr id="10" name="Text 7"/>
          <p:cNvSpPr/>
          <p:nvPr/>
        </p:nvSpPr>
        <p:spPr>
          <a:xfrm>
            <a:off x="731520" y="2075688"/>
            <a:ext cx="320040" cy="594360"/>
          </a:xfrm>
          <a:prstGeom prst="rect">
            <a:avLst/>
          </a:prstGeom>
          <a:noFill/>
          <a:ln/>
        </p:spPr>
        <p:txBody>
          <a:bodyPr wrap="square" rtlCol="0" anchor="t"/>
          <a:lstStyle/>
          <a:p>
            <a:pPr indent="0" marL="0">
              <a:buNone/>
            </a:pPr>
            <a:r>
              <a:rPr lang="en-US" sz="1400" b="1" dirty="0">
                <a:solidFill>
                  <a:srgbClr val="C9A84C"/>
                </a:solidFill>
                <a:latin typeface="Georgia" pitchFamily="34" charset="0"/>
                <a:ea typeface="Georgia" pitchFamily="34" charset="-122"/>
                <a:cs typeface="Georgia" pitchFamily="34" charset="-120"/>
              </a:rPr>
              <a:t>II</a:t>
            </a:r>
            <a:endParaRPr lang="en-US" sz="1400" dirty="0"/>
          </a:p>
        </p:txBody>
      </p:sp>
      <p:sp>
        <p:nvSpPr>
          <p:cNvPr id="11" name="Shape 8"/>
          <p:cNvSpPr/>
          <p:nvPr/>
        </p:nvSpPr>
        <p:spPr>
          <a:xfrm>
            <a:off x="1097280" y="2075688"/>
            <a:ext cx="36576" cy="566928"/>
          </a:xfrm>
          <a:prstGeom prst="rect">
            <a:avLst/>
          </a:prstGeom>
          <a:solidFill>
            <a:srgbClr val="8B7635"/>
          </a:solidFill>
          <a:ln/>
        </p:spPr>
      </p:sp>
      <p:sp>
        <p:nvSpPr>
          <p:cNvPr id="12" name="Text 9"/>
          <p:cNvSpPr/>
          <p:nvPr/>
        </p:nvSpPr>
        <p:spPr>
          <a:xfrm>
            <a:off x="1280160" y="2057400"/>
            <a:ext cx="7132320" cy="228600"/>
          </a:xfrm>
          <a:prstGeom prst="rect">
            <a:avLst/>
          </a:prstGeom>
          <a:noFill/>
          <a:ln/>
        </p:spPr>
        <p:txBody>
          <a:bodyPr wrap="square" lIns="0" tIns="0" rIns="0" bIns="0" rtlCol="0" anchor="ctr"/>
          <a:lstStyle/>
          <a:p>
            <a:pPr indent="0" marL="0">
              <a:buNone/>
            </a:pPr>
            <a:r>
              <a:rPr lang="en-US" sz="1050" b="1" dirty="0">
                <a:solidFill>
                  <a:srgbClr val="D4B96A"/>
                </a:solidFill>
                <a:latin typeface="Georgia" pitchFamily="34" charset="0"/>
                <a:ea typeface="Georgia" pitchFamily="34" charset="-122"/>
                <a:cs typeface="Georgia" pitchFamily="34" charset="-120"/>
              </a:rPr>
              <a:t>GCC-Anchored Multilateral Forum</a:t>
            </a:r>
            <a:endParaRPr lang="en-US" sz="1050" dirty="0"/>
          </a:p>
        </p:txBody>
      </p:sp>
      <p:sp>
        <p:nvSpPr>
          <p:cNvPr id="13" name="Text 10"/>
          <p:cNvSpPr/>
          <p:nvPr/>
        </p:nvSpPr>
        <p:spPr>
          <a:xfrm>
            <a:off x="1280160" y="2295144"/>
            <a:ext cx="7132320" cy="347472"/>
          </a:xfrm>
          <a:prstGeom prst="rect">
            <a:avLst/>
          </a:prstGeom>
          <a:noFill/>
          <a:ln/>
        </p:spPr>
        <p:txBody>
          <a:bodyPr wrap="square" lIns="0" tIns="0" rIns="0" bIns="0" rtlCol="0" anchor="ctr"/>
          <a:lstStyle/>
          <a:p>
            <a:pPr indent="0" marL="0">
              <a:lnSpc>
                <a:spcPct val="115000"/>
              </a:lnSpc>
              <a:buNone/>
            </a:pPr>
            <a:r>
              <a:rPr lang="en-US" sz="850" dirty="0">
                <a:solidFill>
                  <a:srgbClr val="B0B0B0"/>
                </a:solidFill>
                <a:latin typeface="Georgia" pitchFamily="34" charset="0"/>
                <a:ea typeface="Georgia" pitchFamily="34" charset="-122"/>
                <a:cs typeface="Georgia" pitchFamily="34" charset="-120"/>
              </a:rPr>
              <a:t>Standing trilateral facilitation forum with GCC co-chairmanship. Regulatory dialogue, investment coordination, supply chain governance, AI framework oversight.</a:t>
            </a:r>
            <a:endParaRPr lang="en-US" sz="850" dirty="0"/>
          </a:p>
        </p:txBody>
      </p:sp>
      <p:sp>
        <p:nvSpPr>
          <p:cNvPr id="14" name="Text 11"/>
          <p:cNvSpPr/>
          <p:nvPr/>
        </p:nvSpPr>
        <p:spPr>
          <a:xfrm>
            <a:off x="731520" y="2734056"/>
            <a:ext cx="320040" cy="594360"/>
          </a:xfrm>
          <a:prstGeom prst="rect">
            <a:avLst/>
          </a:prstGeom>
          <a:noFill/>
          <a:ln/>
        </p:spPr>
        <p:txBody>
          <a:bodyPr wrap="square" rtlCol="0" anchor="t"/>
          <a:lstStyle/>
          <a:p>
            <a:pPr indent="0" marL="0">
              <a:buNone/>
            </a:pPr>
            <a:r>
              <a:rPr lang="en-US" sz="1400" b="1" dirty="0">
                <a:solidFill>
                  <a:srgbClr val="C9A84C"/>
                </a:solidFill>
                <a:latin typeface="Georgia" pitchFamily="34" charset="0"/>
                <a:ea typeface="Georgia" pitchFamily="34" charset="-122"/>
                <a:cs typeface="Georgia" pitchFamily="34" charset="-120"/>
              </a:rPr>
              <a:t>III</a:t>
            </a:r>
            <a:endParaRPr lang="en-US" sz="1400" dirty="0"/>
          </a:p>
        </p:txBody>
      </p:sp>
      <p:sp>
        <p:nvSpPr>
          <p:cNvPr id="15" name="Shape 12"/>
          <p:cNvSpPr/>
          <p:nvPr/>
        </p:nvSpPr>
        <p:spPr>
          <a:xfrm>
            <a:off x="1097280" y="2734056"/>
            <a:ext cx="36576" cy="566928"/>
          </a:xfrm>
          <a:prstGeom prst="rect">
            <a:avLst/>
          </a:prstGeom>
          <a:solidFill>
            <a:srgbClr val="8B7635"/>
          </a:solidFill>
          <a:ln/>
        </p:spPr>
      </p:sp>
      <p:sp>
        <p:nvSpPr>
          <p:cNvPr id="16" name="Text 13"/>
          <p:cNvSpPr/>
          <p:nvPr/>
        </p:nvSpPr>
        <p:spPr>
          <a:xfrm>
            <a:off x="1280160" y="2715768"/>
            <a:ext cx="7132320" cy="228600"/>
          </a:xfrm>
          <a:prstGeom prst="rect">
            <a:avLst/>
          </a:prstGeom>
          <a:noFill/>
          <a:ln/>
        </p:spPr>
        <p:txBody>
          <a:bodyPr wrap="square" lIns="0" tIns="0" rIns="0" bIns="0" rtlCol="0" anchor="ctr"/>
          <a:lstStyle/>
          <a:p>
            <a:pPr indent="0" marL="0">
              <a:buNone/>
            </a:pPr>
            <a:r>
              <a:rPr lang="en-US" sz="1050" b="1" dirty="0">
                <a:solidFill>
                  <a:srgbClr val="D4B96A"/>
                </a:solidFill>
                <a:latin typeface="Georgia" pitchFamily="34" charset="0"/>
                <a:ea typeface="Georgia" pitchFamily="34" charset="-122"/>
                <a:cs typeface="Georgia" pitchFamily="34" charset="-120"/>
              </a:rPr>
              <a:t>AI Trade Intelligence Integration</a:t>
            </a:r>
            <a:endParaRPr lang="en-US" sz="1050" dirty="0"/>
          </a:p>
        </p:txBody>
      </p:sp>
      <p:sp>
        <p:nvSpPr>
          <p:cNvPr id="17" name="Text 14"/>
          <p:cNvSpPr/>
          <p:nvPr/>
        </p:nvSpPr>
        <p:spPr>
          <a:xfrm>
            <a:off x="1280160" y="2953512"/>
            <a:ext cx="7132320" cy="347472"/>
          </a:xfrm>
          <a:prstGeom prst="rect">
            <a:avLst/>
          </a:prstGeom>
          <a:noFill/>
          <a:ln/>
        </p:spPr>
        <p:txBody>
          <a:bodyPr wrap="square" lIns="0" tIns="0" rIns="0" bIns="0" rtlCol="0" anchor="ctr"/>
          <a:lstStyle/>
          <a:p>
            <a:pPr indent="0" marL="0">
              <a:lnSpc>
                <a:spcPct val="115000"/>
              </a:lnSpc>
              <a:buNone/>
            </a:pPr>
            <a:r>
              <a:rPr lang="en-US" sz="850" dirty="0">
                <a:solidFill>
                  <a:srgbClr val="B0B0B0"/>
                </a:solidFill>
                <a:latin typeface="Georgia" pitchFamily="34" charset="0"/>
                <a:ea typeface="Georgia" pitchFamily="34" charset="-122"/>
                <a:cs typeface="Georgia" pitchFamily="34" charset="-120"/>
              </a:rPr>
              <a:t>Binding capacity-building architecture for South Asian SMEs. System design requirement — not development concession. Intelligence completeness demands SME integration.</a:t>
            </a:r>
            <a:endParaRPr lang="en-US" sz="850" dirty="0"/>
          </a:p>
        </p:txBody>
      </p:sp>
      <p:sp>
        <p:nvSpPr>
          <p:cNvPr id="18" name="Text 15"/>
          <p:cNvSpPr/>
          <p:nvPr/>
        </p:nvSpPr>
        <p:spPr>
          <a:xfrm>
            <a:off x="731520" y="3392424"/>
            <a:ext cx="320040" cy="594360"/>
          </a:xfrm>
          <a:prstGeom prst="rect">
            <a:avLst/>
          </a:prstGeom>
          <a:noFill/>
          <a:ln/>
        </p:spPr>
        <p:txBody>
          <a:bodyPr wrap="square" rtlCol="0" anchor="t"/>
          <a:lstStyle/>
          <a:p>
            <a:pPr indent="0" marL="0">
              <a:buNone/>
            </a:pPr>
            <a:r>
              <a:rPr lang="en-US" sz="1400" b="1" dirty="0">
                <a:solidFill>
                  <a:srgbClr val="C9A84C"/>
                </a:solidFill>
                <a:latin typeface="Georgia" pitchFamily="34" charset="0"/>
                <a:ea typeface="Georgia" pitchFamily="34" charset="-122"/>
                <a:cs typeface="Georgia" pitchFamily="34" charset="-120"/>
              </a:rPr>
              <a:t>IV</a:t>
            </a:r>
            <a:endParaRPr lang="en-US" sz="1400" dirty="0"/>
          </a:p>
        </p:txBody>
      </p:sp>
      <p:sp>
        <p:nvSpPr>
          <p:cNvPr id="19" name="Shape 16"/>
          <p:cNvSpPr/>
          <p:nvPr/>
        </p:nvSpPr>
        <p:spPr>
          <a:xfrm>
            <a:off x="1097280" y="3392424"/>
            <a:ext cx="36576" cy="566928"/>
          </a:xfrm>
          <a:prstGeom prst="rect">
            <a:avLst/>
          </a:prstGeom>
          <a:solidFill>
            <a:srgbClr val="8B7635"/>
          </a:solidFill>
          <a:ln/>
        </p:spPr>
      </p:sp>
      <p:sp>
        <p:nvSpPr>
          <p:cNvPr id="20" name="Text 17"/>
          <p:cNvSpPr/>
          <p:nvPr/>
        </p:nvSpPr>
        <p:spPr>
          <a:xfrm>
            <a:off x="1280160" y="3374136"/>
            <a:ext cx="7132320" cy="228600"/>
          </a:xfrm>
          <a:prstGeom prst="rect">
            <a:avLst/>
          </a:prstGeom>
          <a:noFill/>
          <a:ln/>
        </p:spPr>
        <p:txBody>
          <a:bodyPr wrap="square" lIns="0" tIns="0" rIns="0" bIns="0" rtlCol="0" anchor="ctr"/>
          <a:lstStyle/>
          <a:p>
            <a:pPr indent="0" marL="0">
              <a:buNone/>
            </a:pPr>
            <a:r>
              <a:rPr lang="en-US" sz="1050" b="1" dirty="0">
                <a:solidFill>
                  <a:srgbClr val="D4B96A"/>
                </a:solidFill>
                <a:latin typeface="Georgia" pitchFamily="34" charset="0"/>
                <a:ea typeface="Georgia" pitchFamily="34" charset="-122"/>
                <a:cs typeface="Georgia" pitchFamily="34" charset="-120"/>
              </a:rPr>
              <a:t>EU Green Deal Corridor Mechanism</a:t>
            </a:r>
            <a:endParaRPr lang="en-US" sz="1050" dirty="0"/>
          </a:p>
        </p:txBody>
      </p:sp>
      <p:sp>
        <p:nvSpPr>
          <p:cNvPr id="21" name="Text 18"/>
          <p:cNvSpPr/>
          <p:nvPr/>
        </p:nvSpPr>
        <p:spPr>
          <a:xfrm>
            <a:off x="1280160" y="3611880"/>
            <a:ext cx="7132320" cy="347472"/>
          </a:xfrm>
          <a:prstGeom prst="rect">
            <a:avLst/>
          </a:prstGeom>
          <a:noFill/>
          <a:ln/>
        </p:spPr>
        <p:txBody>
          <a:bodyPr wrap="square" lIns="0" tIns="0" rIns="0" bIns="0" rtlCol="0" anchor="ctr"/>
          <a:lstStyle/>
          <a:p>
            <a:pPr indent="0" marL="0">
              <a:lnSpc>
                <a:spcPct val="115000"/>
              </a:lnSpc>
              <a:buNone/>
            </a:pPr>
            <a:r>
              <a:rPr lang="en-US" sz="850" dirty="0">
                <a:solidFill>
                  <a:srgbClr val="B0B0B0"/>
                </a:solidFill>
                <a:latin typeface="Georgia" pitchFamily="34" charset="0"/>
                <a:ea typeface="Georgia" pitchFamily="34" charset="-122"/>
                <a:cs typeface="Georgia" pitchFamily="34" charset="-120"/>
              </a:rPr>
              <a:t>Corridor-specific regulatory transition support. Structured EU commitment — technical assistance, financial instruments, predictive intelligence — integrated into trade provisions.</a:t>
            </a:r>
            <a:endParaRPr lang="en-US" sz="850" dirty="0"/>
          </a:p>
        </p:txBody>
      </p:sp>
      <p:sp>
        <p:nvSpPr>
          <p:cNvPr id="22" name="Text 19"/>
          <p:cNvSpPr/>
          <p:nvPr/>
        </p:nvSpPr>
        <p:spPr>
          <a:xfrm>
            <a:off x="731520" y="4050792"/>
            <a:ext cx="320040" cy="594360"/>
          </a:xfrm>
          <a:prstGeom prst="rect">
            <a:avLst/>
          </a:prstGeom>
          <a:noFill/>
          <a:ln/>
        </p:spPr>
        <p:txBody>
          <a:bodyPr wrap="square" rtlCol="0" anchor="t"/>
          <a:lstStyle/>
          <a:p>
            <a:pPr indent="0" marL="0">
              <a:buNone/>
            </a:pPr>
            <a:r>
              <a:rPr lang="en-US" sz="1400" b="1" dirty="0">
                <a:solidFill>
                  <a:srgbClr val="C9A84C"/>
                </a:solidFill>
                <a:latin typeface="Georgia" pitchFamily="34" charset="0"/>
                <a:ea typeface="Georgia" pitchFamily="34" charset="-122"/>
                <a:cs typeface="Georgia" pitchFamily="34" charset="-120"/>
              </a:rPr>
              <a:t>V</a:t>
            </a:r>
            <a:endParaRPr lang="en-US" sz="1400" dirty="0"/>
          </a:p>
        </p:txBody>
      </p:sp>
      <p:sp>
        <p:nvSpPr>
          <p:cNvPr id="23" name="Shape 20"/>
          <p:cNvSpPr/>
          <p:nvPr/>
        </p:nvSpPr>
        <p:spPr>
          <a:xfrm>
            <a:off x="1097280" y="4050792"/>
            <a:ext cx="36576" cy="566928"/>
          </a:xfrm>
          <a:prstGeom prst="rect">
            <a:avLst/>
          </a:prstGeom>
          <a:solidFill>
            <a:srgbClr val="8B7635"/>
          </a:solidFill>
          <a:ln/>
        </p:spPr>
      </p:sp>
      <p:sp>
        <p:nvSpPr>
          <p:cNvPr id="24" name="Text 21"/>
          <p:cNvSpPr/>
          <p:nvPr/>
        </p:nvSpPr>
        <p:spPr>
          <a:xfrm>
            <a:off x="1280160" y="4032504"/>
            <a:ext cx="7132320" cy="228600"/>
          </a:xfrm>
          <a:prstGeom prst="rect">
            <a:avLst/>
          </a:prstGeom>
          <a:noFill/>
          <a:ln/>
        </p:spPr>
        <p:txBody>
          <a:bodyPr wrap="square" lIns="0" tIns="0" rIns="0" bIns="0" rtlCol="0" anchor="ctr"/>
          <a:lstStyle/>
          <a:p>
            <a:pPr indent="0" marL="0">
              <a:buNone/>
            </a:pPr>
            <a:r>
              <a:rPr lang="en-US" sz="1050" b="1" dirty="0">
                <a:solidFill>
                  <a:srgbClr val="D4B96A"/>
                </a:solidFill>
                <a:latin typeface="Georgia" pitchFamily="34" charset="0"/>
                <a:ea typeface="Georgia" pitchFamily="34" charset="-122"/>
                <a:cs typeface="Georgia" pitchFamily="34" charset="-120"/>
              </a:rPr>
              <a:t>Economic Diplomacy Capital</a:t>
            </a:r>
            <a:endParaRPr lang="en-US" sz="1050" dirty="0"/>
          </a:p>
        </p:txBody>
      </p:sp>
      <p:sp>
        <p:nvSpPr>
          <p:cNvPr id="25" name="Text 22"/>
          <p:cNvSpPr/>
          <p:nvPr/>
        </p:nvSpPr>
        <p:spPr>
          <a:xfrm>
            <a:off x="1280160" y="4270248"/>
            <a:ext cx="7132320" cy="347472"/>
          </a:xfrm>
          <a:prstGeom prst="rect">
            <a:avLst/>
          </a:prstGeom>
          <a:noFill/>
          <a:ln/>
        </p:spPr>
        <p:txBody>
          <a:bodyPr wrap="square" lIns="0" tIns="0" rIns="0" bIns="0" rtlCol="0" anchor="ctr"/>
          <a:lstStyle/>
          <a:p>
            <a:pPr indent="0" marL="0">
              <a:lnSpc>
                <a:spcPct val="115000"/>
              </a:lnSpc>
              <a:buNone/>
            </a:pPr>
            <a:r>
              <a:rPr lang="en-US" sz="850" dirty="0">
                <a:solidFill>
                  <a:srgbClr val="B0B0B0"/>
                </a:solidFill>
                <a:latin typeface="Georgia" pitchFamily="34" charset="0"/>
                <a:ea typeface="Georgia" pitchFamily="34" charset="-122"/>
                <a:cs typeface="Georgia" pitchFamily="34" charset="-120"/>
              </a:rPr>
              <a:t>Sustained engagement at trade minister, central bank governor, and sovereign fund principal level. Dedicated human capital in economic diplomacy with institutional authority.</a:t>
            </a:r>
            <a:endParaRPr lang="en-US" sz="850" dirty="0"/>
          </a:p>
        </p:txBody>
      </p:sp>
      <p:sp>
        <p:nvSpPr>
          <p:cNvPr id="26" name="Text 23"/>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Strategic Intelligence Briefing  |  Restricted Circulation  |  © M.M. Usman Zulfiqar,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50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34440" y="457200"/>
            <a:ext cx="640080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CONCLUSION</a:t>
            </a:r>
            <a:endParaRPr lang="en-US" sz="1100" dirty="0"/>
          </a:p>
        </p:txBody>
      </p:sp>
      <p:sp>
        <p:nvSpPr>
          <p:cNvPr id="4" name="Shape 1"/>
          <p:cNvSpPr/>
          <p:nvPr/>
        </p:nvSpPr>
        <p:spPr>
          <a:xfrm>
            <a:off x="731520" y="960120"/>
            <a:ext cx="7680960" cy="0"/>
          </a:xfrm>
          <a:prstGeom prst="line">
            <a:avLst/>
          </a:prstGeom>
          <a:noFill/>
          <a:ln w="9525">
            <a:solidFill>
              <a:srgbClr val="C9A84C"/>
            </a:solidFill>
            <a:prstDash val="solid"/>
          </a:ln>
        </p:spPr>
      </p:sp>
      <p:sp>
        <p:nvSpPr>
          <p:cNvPr id="5" name="Text 2"/>
          <p:cNvSpPr/>
          <p:nvPr/>
        </p:nvSpPr>
        <p:spPr>
          <a:xfrm>
            <a:off x="731520" y="1143000"/>
            <a:ext cx="7680960" cy="548640"/>
          </a:xfrm>
          <a:prstGeom prst="rect">
            <a:avLst/>
          </a:prstGeom>
          <a:noFill/>
          <a:ln/>
        </p:spPr>
        <p:txBody>
          <a:bodyPr wrap="square" rtlCol="0" anchor="ctr"/>
          <a:lstStyle/>
          <a:p>
            <a:pPr indent="0" marL="0">
              <a:lnSpc>
                <a:spcPct val="130000"/>
              </a:lnSpc>
              <a:buNone/>
            </a:pPr>
            <a:r>
              <a:rPr lang="en-US" sz="1200" b="1" dirty="0">
                <a:solidFill>
                  <a:srgbClr val="FFFFFF"/>
                </a:solidFill>
                <a:latin typeface="Georgia" pitchFamily="34" charset="0"/>
                <a:ea typeface="Georgia" pitchFamily="34" charset="-122"/>
                <a:cs typeface="Georgia" pitchFamily="34" charset="-120"/>
              </a:rPr>
              <a:t>The EU–GCC–South Asia corridor possesses the scale, structural complementarity, and political conditions to become the defining trade architecture of the coming decade.</a:t>
            </a:r>
            <a:endParaRPr lang="en-US" sz="1200" dirty="0"/>
          </a:p>
        </p:txBody>
      </p:sp>
      <p:sp>
        <p:nvSpPr>
          <p:cNvPr id="6" name="Text 3"/>
          <p:cNvSpPr/>
          <p:nvPr/>
        </p:nvSpPr>
        <p:spPr>
          <a:xfrm>
            <a:off x="731520" y="1783080"/>
            <a:ext cx="7680960" cy="502920"/>
          </a:xfrm>
          <a:prstGeom prst="rect">
            <a:avLst/>
          </a:prstGeom>
          <a:noFill/>
          <a:ln/>
        </p:spPr>
        <p:txBody>
          <a:bodyPr wrap="square" rtlCol="0" anchor="ctr"/>
          <a:lstStyle/>
          <a:p>
            <a:pPr indent="0" marL="0">
              <a:lnSpc>
                <a:spcPct val="130000"/>
              </a:lnSpc>
              <a:buNone/>
            </a:pPr>
            <a:r>
              <a:rPr lang="en-US" sz="1050" dirty="0">
                <a:solidFill>
                  <a:srgbClr val="B0B0B0"/>
                </a:solidFill>
                <a:latin typeface="Georgia" pitchFamily="34" charset="0"/>
                <a:ea typeface="Georgia" pitchFamily="34" charset="-122"/>
                <a:cs typeface="Georgia" pitchFamily="34" charset="-120"/>
              </a:rPr>
              <a:t>It lacks governance equal to its complexity — and in the absence of that governance, its individual sophistication is becoming a systemic liability rather than an asset.</a:t>
            </a:r>
            <a:endParaRPr lang="en-US" sz="1050" dirty="0"/>
          </a:p>
        </p:txBody>
      </p:sp>
      <p:sp>
        <p:nvSpPr>
          <p:cNvPr id="7" name="Shape 4"/>
          <p:cNvSpPr/>
          <p:nvPr/>
        </p:nvSpPr>
        <p:spPr>
          <a:xfrm>
            <a:off x="731520" y="2514600"/>
            <a:ext cx="54864" cy="347472"/>
          </a:xfrm>
          <a:prstGeom prst="rect">
            <a:avLst/>
          </a:prstGeom>
          <a:solidFill>
            <a:srgbClr val="C9A84C"/>
          </a:solidFill>
          <a:ln/>
        </p:spPr>
      </p:sp>
      <p:sp>
        <p:nvSpPr>
          <p:cNvPr id="8" name="Text 5"/>
          <p:cNvSpPr/>
          <p:nvPr/>
        </p:nvSpPr>
        <p:spPr>
          <a:xfrm>
            <a:off x="960120" y="2514600"/>
            <a:ext cx="7452360" cy="347472"/>
          </a:xfrm>
          <a:prstGeom prst="rect">
            <a:avLst/>
          </a:prstGeom>
          <a:noFill/>
          <a:ln/>
        </p:spPr>
        <p:txBody>
          <a:bodyPr wrap="square" rtlCol="0" anchor="ctr"/>
          <a:lstStyle/>
          <a:p>
            <a:pPr indent="0" marL="0">
              <a:lnSpc>
                <a:spcPct val="115000"/>
              </a:lnSpc>
              <a:buNone/>
            </a:pPr>
            <a:r>
              <a:rPr lang="en-US" sz="1000" dirty="0">
                <a:solidFill>
                  <a:srgbClr val="B0B0B0"/>
                </a:solidFill>
                <a:latin typeface="Georgia" pitchFamily="34" charset="0"/>
                <a:ea typeface="Georgia" pitchFamily="34" charset="-122"/>
                <a:cs typeface="Georgia" pitchFamily="34" charset="-120"/>
              </a:rPr>
              <a:t>The corridor's integration deficit is epistemic at its core.</a:t>
            </a:r>
            <a:endParaRPr lang="en-US" sz="1000" dirty="0"/>
          </a:p>
        </p:txBody>
      </p:sp>
      <p:sp>
        <p:nvSpPr>
          <p:cNvPr id="9" name="Shape 6"/>
          <p:cNvSpPr/>
          <p:nvPr/>
        </p:nvSpPr>
        <p:spPr>
          <a:xfrm>
            <a:off x="731520" y="2953512"/>
            <a:ext cx="54864" cy="347472"/>
          </a:xfrm>
          <a:prstGeom prst="rect">
            <a:avLst/>
          </a:prstGeom>
          <a:solidFill>
            <a:srgbClr val="C9A84C"/>
          </a:solidFill>
          <a:ln/>
        </p:spPr>
      </p:sp>
      <p:sp>
        <p:nvSpPr>
          <p:cNvPr id="10" name="Text 7"/>
          <p:cNvSpPr/>
          <p:nvPr/>
        </p:nvSpPr>
        <p:spPr>
          <a:xfrm>
            <a:off x="960120" y="2953512"/>
            <a:ext cx="7452360" cy="347472"/>
          </a:xfrm>
          <a:prstGeom prst="rect">
            <a:avLst/>
          </a:prstGeom>
          <a:noFill/>
          <a:ln/>
        </p:spPr>
        <p:txBody>
          <a:bodyPr wrap="square" rtlCol="0" anchor="ctr"/>
          <a:lstStyle/>
          <a:p>
            <a:pPr indent="0" marL="0">
              <a:lnSpc>
                <a:spcPct val="115000"/>
              </a:lnSpc>
              <a:buNone/>
            </a:pPr>
            <a:r>
              <a:rPr lang="en-US" sz="1000" dirty="0">
                <a:solidFill>
                  <a:srgbClr val="B0B0B0"/>
                </a:solidFill>
                <a:latin typeface="Georgia" pitchFamily="34" charset="0"/>
                <a:ea typeface="Georgia" pitchFamily="34" charset="-122"/>
                <a:cs typeface="Georgia" pitchFamily="34" charset="-120"/>
              </a:rPr>
              <a:t>AI offers the first historically available instrument for generating shared situational awareness across three distinct regulatory environments.</a:t>
            </a:r>
            <a:endParaRPr lang="en-US" sz="1000" dirty="0"/>
          </a:p>
        </p:txBody>
      </p:sp>
      <p:sp>
        <p:nvSpPr>
          <p:cNvPr id="11" name="Shape 8"/>
          <p:cNvSpPr/>
          <p:nvPr/>
        </p:nvSpPr>
        <p:spPr>
          <a:xfrm>
            <a:off x="731520" y="3392424"/>
            <a:ext cx="54864" cy="347472"/>
          </a:xfrm>
          <a:prstGeom prst="rect">
            <a:avLst/>
          </a:prstGeom>
          <a:solidFill>
            <a:srgbClr val="C9A84C"/>
          </a:solidFill>
          <a:ln/>
        </p:spPr>
      </p:sp>
      <p:sp>
        <p:nvSpPr>
          <p:cNvPr id="12" name="Text 9"/>
          <p:cNvSpPr/>
          <p:nvPr/>
        </p:nvSpPr>
        <p:spPr>
          <a:xfrm>
            <a:off x="960120" y="3392424"/>
            <a:ext cx="7452360" cy="347472"/>
          </a:xfrm>
          <a:prstGeom prst="rect">
            <a:avLst/>
          </a:prstGeom>
          <a:noFill/>
          <a:ln/>
        </p:spPr>
        <p:txBody>
          <a:bodyPr wrap="square" rtlCol="0" anchor="ctr"/>
          <a:lstStyle/>
          <a:p>
            <a:pPr indent="0" marL="0">
              <a:lnSpc>
                <a:spcPct val="115000"/>
              </a:lnSpc>
              <a:buNone/>
            </a:pPr>
            <a:r>
              <a:rPr lang="en-US" sz="1000" dirty="0">
                <a:solidFill>
                  <a:srgbClr val="B0B0B0"/>
                </a:solidFill>
                <a:latin typeface="Georgia" pitchFamily="34" charset="0"/>
                <a:ea typeface="Georgia" pitchFamily="34" charset="-122"/>
                <a:cs typeface="Georgia" pitchFamily="34" charset="-120"/>
              </a:rPr>
              <a:t>The Oman–Gwadar corridor represents the most consequential and most underweighted structural leverage point in the corridor's resilience architecture.</a:t>
            </a:r>
            <a:endParaRPr lang="en-US" sz="1000" dirty="0"/>
          </a:p>
        </p:txBody>
      </p:sp>
      <p:sp>
        <p:nvSpPr>
          <p:cNvPr id="13" name="Shape 10"/>
          <p:cNvSpPr/>
          <p:nvPr/>
        </p:nvSpPr>
        <p:spPr>
          <a:xfrm>
            <a:off x="731520" y="3831336"/>
            <a:ext cx="54864" cy="347472"/>
          </a:xfrm>
          <a:prstGeom prst="rect">
            <a:avLst/>
          </a:prstGeom>
          <a:solidFill>
            <a:srgbClr val="C9A84C"/>
          </a:solidFill>
          <a:ln/>
        </p:spPr>
      </p:sp>
      <p:sp>
        <p:nvSpPr>
          <p:cNvPr id="14" name="Text 11"/>
          <p:cNvSpPr/>
          <p:nvPr/>
        </p:nvSpPr>
        <p:spPr>
          <a:xfrm>
            <a:off x="960120" y="3831336"/>
            <a:ext cx="7452360" cy="347472"/>
          </a:xfrm>
          <a:prstGeom prst="rect">
            <a:avLst/>
          </a:prstGeom>
          <a:noFill/>
          <a:ln/>
        </p:spPr>
        <p:txBody>
          <a:bodyPr wrap="square" rtlCol="0" anchor="ctr"/>
          <a:lstStyle/>
          <a:p>
            <a:pPr indent="0" marL="0">
              <a:lnSpc>
                <a:spcPct val="115000"/>
              </a:lnSpc>
              <a:buNone/>
            </a:pPr>
            <a:r>
              <a:rPr lang="en-US" sz="1000" dirty="0">
                <a:solidFill>
                  <a:srgbClr val="B0B0B0"/>
                </a:solidFill>
                <a:latin typeface="Georgia" pitchFamily="34" charset="0"/>
                <a:ea typeface="Georgia" pitchFamily="34" charset="-122"/>
                <a:cs typeface="Georgia" pitchFamily="34" charset="-120"/>
              </a:rPr>
              <a:t>The window for institutional coordination remains open. It will not remain open indefinitely.</a:t>
            </a:r>
            <a:endParaRPr lang="en-US" sz="1000" dirty="0"/>
          </a:p>
        </p:txBody>
      </p:sp>
      <p:sp>
        <p:nvSpPr>
          <p:cNvPr id="15" name="Shape 12"/>
          <p:cNvSpPr/>
          <p:nvPr/>
        </p:nvSpPr>
        <p:spPr>
          <a:xfrm>
            <a:off x="731520" y="4160520"/>
            <a:ext cx="7680960" cy="457200"/>
          </a:xfrm>
          <a:prstGeom prst="rect">
            <a:avLst/>
          </a:prstGeom>
          <a:solidFill>
            <a:srgbClr val="1A1A1A"/>
          </a:solidFill>
          <a:ln w="12700">
            <a:solidFill>
              <a:srgbClr val="C9A84C"/>
            </a:solidFill>
            <a:prstDash val="solid"/>
          </a:ln>
        </p:spPr>
      </p:sp>
      <p:sp>
        <p:nvSpPr>
          <p:cNvPr id="16" name="Text 13"/>
          <p:cNvSpPr/>
          <p:nvPr/>
        </p:nvSpPr>
        <p:spPr>
          <a:xfrm>
            <a:off x="914400" y="4178808"/>
            <a:ext cx="7315200" cy="411480"/>
          </a:xfrm>
          <a:prstGeom prst="rect">
            <a:avLst/>
          </a:prstGeom>
          <a:noFill/>
          <a:ln/>
        </p:spPr>
        <p:txBody>
          <a:bodyPr wrap="square" rtlCol="0" anchor="ctr"/>
          <a:lstStyle/>
          <a:p>
            <a:pPr indent="0" marL="0">
              <a:lnSpc>
                <a:spcPct val="120000"/>
              </a:lnSpc>
              <a:buNone/>
            </a:pPr>
            <a:r>
              <a:rPr lang="en-US" sz="900" i="1" dirty="0">
                <a:solidFill>
                  <a:srgbClr val="D4B96A"/>
                </a:solidFill>
                <a:latin typeface="Georgia" pitchFamily="34" charset="0"/>
                <a:ea typeface="Georgia" pitchFamily="34" charset="-122"/>
                <a:cs typeface="Georgia" pitchFamily="34" charset="-120"/>
              </a:rPr>
              <a:t>The policymakers and sovereign fund principals who act within this window will not merely be responding to structural change — they will be designing the architecture within which the next generation of global trade is conducted.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731520" y="640080"/>
            <a:ext cx="7680960" cy="0"/>
          </a:xfrm>
          <a:prstGeom prst="line">
            <a:avLst/>
          </a:prstGeom>
          <a:noFill/>
          <a:ln w="9525">
            <a:solidFill>
              <a:srgbClr val="C9A84C"/>
            </a:solidFill>
            <a:prstDash val="solid"/>
          </a:ln>
        </p:spPr>
      </p:sp>
      <p:sp>
        <p:nvSpPr>
          <p:cNvPr id="3" name="Text 1"/>
          <p:cNvSpPr/>
          <p:nvPr/>
        </p:nvSpPr>
        <p:spPr>
          <a:xfrm>
            <a:off x="731520" y="777240"/>
            <a:ext cx="7680960" cy="365760"/>
          </a:xfrm>
          <a:prstGeom prst="rect">
            <a:avLst/>
          </a:prstGeom>
          <a:noFill/>
          <a:ln/>
        </p:spPr>
        <p:txBody>
          <a:bodyPr wrap="square" rtlCol="0" anchor="ctr"/>
          <a:lstStyle/>
          <a:p>
            <a:pPr indent="0" marL="0">
              <a:buNone/>
            </a:pPr>
            <a:r>
              <a:rPr lang="en-US" sz="1100" b="1" spc="400" kern="0" dirty="0">
                <a:solidFill>
                  <a:srgbClr val="C9A84C"/>
                </a:solidFill>
                <a:latin typeface="Georgia" pitchFamily="34" charset="0"/>
                <a:ea typeface="Georgia" pitchFamily="34" charset="-122"/>
                <a:cs typeface="Georgia" pitchFamily="34" charset="-120"/>
              </a:rPr>
              <a:t>AUTHOR AUTHORITY</a:t>
            </a:r>
            <a:endParaRPr lang="en-US" sz="1100" dirty="0"/>
          </a:p>
        </p:txBody>
      </p:sp>
      <p:sp>
        <p:nvSpPr>
          <p:cNvPr id="4" name="Text 2"/>
          <p:cNvSpPr/>
          <p:nvPr/>
        </p:nvSpPr>
        <p:spPr>
          <a:xfrm>
            <a:off x="731520" y="1234440"/>
            <a:ext cx="768096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Mian Muhammad Usman Zulfiqar</a:t>
            </a:r>
            <a:endParaRPr lang="en-US" sz="1800" dirty="0"/>
          </a:p>
        </p:txBody>
      </p:sp>
      <p:sp>
        <p:nvSpPr>
          <p:cNvPr id="5" name="Text 3"/>
          <p:cNvSpPr/>
          <p:nvPr/>
        </p:nvSpPr>
        <p:spPr>
          <a:xfrm>
            <a:off x="731520" y="1600200"/>
            <a:ext cx="7680960" cy="457200"/>
          </a:xfrm>
          <a:prstGeom prst="rect">
            <a:avLst/>
          </a:prstGeom>
          <a:noFill/>
          <a:ln/>
        </p:spPr>
        <p:txBody>
          <a:bodyPr wrap="square" rtlCol="0" anchor="ctr"/>
          <a:lstStyle/>
          <a:p>
            <a:pPr indent="0" marL="0">
              <a:buNone/>
            </a:pPr>
            <a:r>
              <a:rPr lang="en-US" sz="1050" dirty="0">
                <a:solidFill>
                  <a:srgbClr val="D4B96A"/>
                </a:solidFill>
                <a:latin typeface="Georgia" pitchFamily="34" charset="0"/>
                <a:ea typeface="Georgia" pitchFamily="34" charset="-122"/>
                <a:cs typeface="Georgia" pitchFamily="34" charset="-120"/>
              </a:rPr>
              <a:t>Senior Fellow (Independent) &amp; Principal Strategist</a:t>
            </a:r>
            <a:endParaRPr lang="en-US" sz="1050" dirty="0"/>
          </a:p>
          <a:p>
            <a:pPr indent="0" marL="0">
              <a:buNone/>
            </a:pPr>
            <a:r>
              <a:rPr lang="en-US" sz="1050" dirty="0">
                <a:solidFill>
                  <a:srgbClr val="D4B96A"/>
                </a:solidFill>
                <a:latin typeface="Georgia" pitchFamily="34" charset="0"/>
                <a:ea typeface="Georgia" pitchFamily="34" charset="-122"/>
                <a:cs typeface="Georgia" pitchFamily="34" charset="-120"/>
              </a:rPr>
              <a:t>Global Trade Architecture &amp; Systemic Resilience</a:t>
            </a:r>
            <a:endParaRPr lang="en-US" sz="1050" dirty="0"/>
          </a:p>
        </p:txBody>
      </p:sp>
      <p:sp>
        <p:nvSpPr>
          <p:cNvPr id="6" name="Shape 4"/>
          <p:cNvSpPr/>
          <p:nvPr/>
        </p:nvSpPr>
        <p:spPr>
          <a:xfrm>
            <a:off x="731520" y="2148840"/>
            <a:ext cx="3200400" cy="0"/>
          </a:xfrm>
          <a:prstGeom prst="line">
            <a:avLst/>
          </a:prstGeom>
          <a:noFill/>
          <a:ln w="9525">
            <a:solidFill>
              <a:srgbClr val="C9A84C"/>
            </a:solidFill>
            <a:prstDash val="solid"/>
          </a:ln>
        </p:spPr>
      </p:sp>
      <p:sp>
        <p:nvSpPr>
          <p:cNvPr id="7" name="Shape 5"/>
          <p:cNvSpPr/>
          <p:nvPr/>
        </p:nvSpPr>
        <p:spPr>
          <a:xfrm>
            <a:off x="731520" y="2377440"/>
            <a:ext cx="54864" cy="228600"/>
          </a:xfrm>
          <a:prstGeom prst="rect">
            <a:avLst/>
          </a:prstGeom>
          <a:solidFill>
            <a:srgbClr val="8B7635"/>
          </a:solidFill>
          <a:ln/>
        </p:spPr>
      </p:sp>
      <p:sp>
        <p:nvSpPr>
          <p:cNvPr id="8" name="Text 6"/>
          <p:cNvSpPr/>
          <p:nvPr/>
        </p:nvSpPr>
        <p:spPr>
          <a:xfrm>
            <a:off x="960120" y="2331720"/>
            <a:ext cx="7452360" cy="32004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USD 130M global trade portfolio — industrial manufacturing, textiles, cross-border value chain architecture</a:t>
            </a:r>
            <a:endParaRPr lang="en-US" sz="950" dirty="0"/>
          </a:p>
        </p:txBody>
      </p:sp>
      <p:sp>
        <p:nvSpPr>
          <p:cNvPr id="9" name="Shape 7"/>
          <p:cNvSpPr/>
          <p:nvPr/>
        </p:nvSpPr>
        <p:spPr>
          <a:xfrm>
            <a:off x="731520" y="2743200"/>
            <a:ext cx="54864" cy="228600"/>
          </a:xfrm>
          <a:prstGeom prst="rect">
            <a:avLst/>
          </a:prstGeom>
          <a:solidFill>
            <a:srgbClr val="8B7635"/>
          </a:solidFill>
          <a:ln/>
        </p:spPr>
      </p:sp>
      <p:sp>
        <p:nvSpPr>
          <p:cNvPr id="10" name="Text 8"/>
          <p:cNvSpPr/>
          <p:nvPr/>
        </p:nvSpPr>
        <p:spPr>
          <a:xfrm>
            <a:off x="960120" y="2697480"/>
            <a:ext cx="7452360" cy="32004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Founder &amp; CEO, Harvics Global Venture  |  Patron, Pakistan Business Forum</a:t>
            </a:r>
            <a:endParaRPr lang="en-US" sz="950" dirty="0"/>
          </a:p>
        </p:txBody>
      </p:sp>
      <p:sp>
        <p:nvSpPr>
          <p:cNvPr id="11" name="Shape 9"/>
          <p:cNvSpPr/>
          <p:nvPr/>
        </p:nvSpPr>
        <p:spPr>
          <a:xfrm>
            <a:off x="731520" y="3108960"/>
            <a:ext cx="54864" cy="228600"/>
          </a:xfrm>
          <a:prstGeom prst="rect">
            <a:avLst/>
          </a:prstGeom>
          <a:solidFill>
            <a:srgbClr val="8B7635"/>
          </a:solidFill>
          <a:ln/>
        </p:spPr>
      </p:sp>
      <p:sp>
        <p:nvSpPr>
          <p:cNvPr id="12" name="Text 10"/>
          <p:cNvSpPr/>
          <p:nvPr/>
        </p:nvSpPr>
        <p:spPr>
          <a:xfrm>
            <a:off x="960120" y="3063240"/>
            <a:ext cx="7452360" cy="32004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Former Chairman, FPCCI Standing Committee on Textiles  |  Secretary General, Businessmen Panel</a:t>
            </a:r>
            <a:endParaRPr lang="en-US" sz="950" dirty="0"/>
          </a:p>
        </p:txBody>
      </p:sp>
      <p:sp>
        <p:nvSpPr>
          <p:cNvPr id="13" name="Shape 11"/>
          <p:cNvSpPr/>
          <p:nvPr/>
        </p:nvSpPr>
        <p:spPr>
          <a:xfrm>
            <a:off x="731520" y="3474720"/>
            <a:ext cx="54864" cy="228600"/>
          </a:xfrm>
          <a:prstGeom prst="rect">
            <a:avLst/>
          </a:prstGeom>
          <a:solidFill>
            <a:srgbClr val="8B7635"/>
          </a:solidFill>
          <a:ln/>
        </p:spPr>
      </p:sp>
      <p:sp>
        <p:nvSpPr>
          <p:cNvPr id="14" name="Text 12"/>
          <p:cNvSpPr/>
          <p:nvPr/>
        </p:nvSpPr>
        <p:spPr>
          <a:xfrm>
            <a:off x="960120" y="3429000"/>
            <a:ext cx="7452360" cy="32004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15+ years principal-level engagement across EU, GCC, South Asia, and North America</a:t>
            </a:r>
            <a:endParaRPr lang="en-US" sz="950" dirty="0"/>
          </a:p>
        </p:txBody>
      </p:sp>
      <p:sp>
        <p:nvSpPr>
          <p:cNvPr id="15" name="Shape 13"/>
          <p:cNvSpPr/>
          <p:nvPr/>
        </p:nvSpPr>
        <p:spPr>
          <a:xfrm>
            <a:off x="731520" y="3840480"/>
            <a:ext cx="54864" cy="228600"/>
          </a:xfrm>
          <a:prstGeom prst="rect">
            <a:avLst/>
          </a:prstGeom>
          <a:solidFill>
            <a:srgbClr val="8B7635"/>
          </a:solidFill>
          <a:ln/>
        </p:spPr>
      </p:sp>
      <p:sp>
        <p:nvSpPr>
          <p:cNvPr id="16" name="Text 14"/>
          <p:cNvSpPr/>
          <p:nvPr/>
        </p:nvSpPr>
        <p:spPr>
          <a:xfrm>
            <a:off x="960120" y="3794760"/>
            <a:ext cx="7452360" cy="320040"/>
          </a:xfrm>
          <a:prstGeom prst="rect">
            <a:avLst/>
          </a:prstGeom>
          <a:noFill/>
          <a:ln/>
        </p:spPr>
        <p:txBody>
          <a:bodyPr wrap="square" rtlCol="0" anchor="ctr"/>
          <a:lstStyle/>
          <a:p>
            <a:pPr indent="0" marL="0">
              <a:buNone/>
            </a:pPr>
            <a:r>
              <a:rPr lang="en-US" sz="950" dirty="0">
                <a:solidFill>
                  <a:srgbClr val="B0B0B0"/>
                </a:solidFill>
                <a:latin typeface="Georgia" pitchFamily="34" charset="0"/>
                <a:ea typeface="Georgia" pitchFamily="34" charset="-122"/>
                <a:cs typeface="Georgia" pitchFamily="34" charset="-120"/>
              </a:rPr>
              <a:t>Pioneer of AI-augmented rapid systems prototyping for trade intelligence and governance architecture</a:t>
            </a:r>
            <a:endParaRPr lang="en-US" sz="950" dirty="0"/>
          </a:p>
        </p:txBody>
      </p:sp>
      <p:sp>
        <p:nvSpPr>
          <p:cNvPr id="17" name="Text 15"/>
          <p:cNvSpPr/>
          <p:nvPr/>
        </p:nvSpPr>
        <p:spPr>
          <a:xfrm>
            <a:off x="731520" y="4160520"/>
            <a:ext cx="7680960" cy="320040"/>
          </a:xfrm>
          <a:prstGeom prst="rect">
            <a:avLst/>
          </a:prstGeom>
          <a:noFill/>
          <a:ln/>
        </p:spPr>
        <p:txBody>
          <a:bodyPr wrap="square" rtlCol="0" anchor="ctr"/>
          <a:lstStyle/>
          <a:p>
            <a:pPr indent="0" marL="0">
              <a:buNone/>
            </a:pPr>
            <a:r>
              <a:rPr lang="en-US" sz="1200" b="1" i="1" dirty="0">
                <a:solidFill>
                  <a:srgbClr val="C9A84C"/>
                </a:solidFill>
                <a:latin typeface="Georgia" pitchFamily="34" charset="0"/>
                <a:ea typeface="Georgia" pitchFamily="34" charset="-122"/>
                <a:cs typeface="Georgia" pitchFamily="34" charset="-120"/>
              </a:rPr>
              <a:t>He does not describe the corridor. He shapes it.</a:t>
            </a:r>
            <a:endParaRPr lang="en-US" sz="1200" dirty="0"/>
          </a:p>
        </p:txBody>
      </p:sp>
      <p:sp>
        <p:nvSpPr>
          <p:cNvPr id="18" name="Text 16"/>
          <p:cNvSpPr/>
          <p:nvPr/>
        </p:nvSpPr>
        <p:spPr>
          <a:xfrm>
            <a:off x="731520" y="4572000"/>
            <a:ext cx="7680960" cy="274320"/>
          </a:xfrm>
          <a:prstGeom prst="rect">
            <a:avLst/>
          </a:prstGeom>
          <a:noFill/>
          <a:ln/>
        </p:spPr>
        <p:txBody>
          <a:bodyPr wrap="square" rtlCol="0" anchor="ctr"/>
          <a:lstStyle/>
          <a:p>
            <a:pPr indent="0" marL="0">
              <a:buNone/>
            </a:pPr>
            <a:r>
              <a:rPr lang="en-US" sz="850" dirty="0">
                <a:solidFill>
                  <a:srgbClr val="8B7635"/>
                </a:solidFill>
                <a:latin typeface="Georgia" pitchFamily="34" charset="0"/>
                <a:ea typeface="Georgia" pitchFamily="34" charset="-122"/>
                <a:cs typeface="Georgia" pitchFamily="34" charset="-120"/>
              </a:rPr>
              <a:t>usman@harvics.com  |  +92 322 999 9009  |  +44 7830 755 932  |  Lahore · London · Toronto</a:t>
            </a:r>
            <a:endParaRPr lang="en-US" sz="850" dirty="0"/>
          </a:p>
        </p:txBody>
      </p:sp>
      <p:sp>
        <p:nvSpPr>
          <p:cNvPr id="19" name="Text 17"/>
          <p:cNvSpPr/>
          <p:nvPr/>
        </p:nvSpPr>
        <p:spPr>
          <a:xfrm>
            <a:off x="457200" y="4709160"/>
            <a:ext cx="8229600" cy="320040"/>
          </a:xfrm>
          <a:prstGeom prst="rect">
            <a:avLst/>
          </a:prstGeom>
          <a:noFill/>
          <a:ln/>
        </p:spPr>
        <p:txBody>
          <a:bodyPr wrap="square" rtlCol="0" anchor="b"/>
          <a:lstStyle/>
          <a:p>
            <a:pPr algn="l" indent="0" marL="0">
              <a:buNone/>
            </a:pPr>
            <a:r>
              <a:rPr lang="en-US" sz="800" dirty="0">
                <a:solidFill>
                  <a:srgbClr val="8B7635"/>
                </a:solidFill>
                <a:latin typeface="Georgia" pitchFamily="34" charset="0"/>
                <a:ea typeface="Georgia" pitchFamily="34" charset="-122"/>
                <a:cs typeface="Georgia" pitchFamily="34" charset="-120"/>
              </a:rPr>
              <a:t>© Mian Muhammad Usman Zulfiqar, 2026  |  All rights reserved  |  Not for redistribution without written authorisation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Intelligence Briefing — EU–GCC–South Asia Trade Architecture</dc:title>
  <dc:subject>PptxGenJS Presentation</dc:subject>
  <dc:creator>Mian Muhammad Usman Zulfiqar</dc:creator>
  <cp:lastModifiedBy>Mian Muhammad Usman Zulfiqar</cp:lastModifiedBy>
  <cp:revision>1</cp:revision>
  <dcterms:created xsi:type="dcterms:W3CDTF">2026-04-27T22:31:44Z</dcterms:created>
  <dcterms:modified xsi:type="dcterms:W3CDTF">2026-04-27T22:31:44Z</dcterms:modified>
</cp:coreProperties>
</file>